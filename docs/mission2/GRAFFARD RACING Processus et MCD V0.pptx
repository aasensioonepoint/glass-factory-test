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29" r:id="rId2"/>
    <p:sldId id="324" r:id="rId3"/>
    <p:sldId id="326" r:id="rId4"/>
    <p:sldId id="325" r:id="rId5"/>
    <p:sldId id="328" r:id="rId6"/>
    <p:sldId id="334" r:id="rId7"/>
    <p:sldId id="289" r:id="rId8"/>
    <p:sldId id="288" r:id="rId9"/>
    <p:sldId id="290" r:id="rId10"/>
    <p:sldId id="292" r:id="rId11"/>
    <p:sldId id="293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11" r:id="rId22"/>
    <p:sldId id="321" r:id="rId23"/>
    <p:sldId id="305" r:id="rId24"/>
    <p:sldId id="306" r:id="rId25"/>
    <p:sldId id="307" r:id="rId26"/>
    <p:sldId id="308" r:id="rId27"/>
    <p:sldId id="309" r:id="rId28"/>
    <p:sldId id="310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35" r:id="rId39"/>
    <p:sldId id="337" r:id="rId40"/>
    <p:sldId id="338" r:id="rId41"/>
    <p:sldId id="336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cessus &amp; RACI" id="{3A856571-BC25-534E-A0DD-75E09DD772F1}">
          <p14:sldIdLst>
            <p14:sldId id="329"/>
            <p14:sldId id="324"/>
            <p14:sldId id="326"/>
            <p14:sldId id="325"/>
            <p14:sldId id="328"/>
            <p14:sldId id="334"/>
            <p14:sldId id="289"/>
            <p14:sldId id="288"/>
            <p14:sldId id="290"/>
            <p14:sldId id="292"/>
          </p14:sldIdLst>
        </p14:section>
        <p14:section name="MCD" id="{1D177274-69C9-0340-9ABB-8F545F84BD31}">
          <p14:sldIdLst>
            <p14:sldId id="293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11"/>
            <p14:sldId id="321"/>
            <p14:sldId id="305"/>
            <p14:sldId id="306"/>
            <p14:sldId id="307"/>
            <p14:sldId id="308"/>
            <p14:sldId id="309"/>
            <p14:sldId id="310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35"/>
            <p14:sldId id="337"/>
            <p14:sldId id="338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/>
    <p:restoredTop sz="89452"/>
  </p:normalViewPr>
  <p:slideViewPr>
    <p:cSldViewPr snapToGrid="0">
      <p:cViewPr varScale="1">
        <p:scale>
          <a:sx n="113" d="100"/>
          <a:sy n="113" d="100"/>
        </p:scale>
        <p:origin x="1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y KHOU" userId="10ed8cde-c9bc-4d95-9e8d-22bcd9395bd9" providerId="ADAL" clId="{9152C54D-377D-5AE4-9CEA-49EBD86CD6C0}"/>
    <pc:docChg chg="undo custSel addSld delSld modSld sldOrd delSection modSection modNotesMaster">
      <pc:chgData name="Uy KHOU" userId="10ed8cde-c9bc-4d95-9e8d-22bcd9395bd9" providerId="ADAL" clId="{9152C54D-377D-5AE4-9CEA-49EBD86CD6C0}" dt="2026-10-22T12:09:43.565" v="571" actId="1076"/>
      <pc:docMkLst>
        <pc:docMk/>
      </pc:docMkLst>
      <pc:sldChg chg="addSp modSp">
        <pc:chgData name="Uy KHOU" userId="10ed8cde-c9bc-4d95-9e8d-22bcd9395bd9" providerId="ADAL" clId="{9152C54D-377D-5AE4-9CEA-49EBD86CD6C0}" dt="2026-10-13T15:17:15.604" v="133"/>
        <pc:sldMkLst>
          <pc:docMk/>
          <pc:sldMk cId="0" sldId="320"/>
        </pc:sldMkLst>
      </pc:sldChg>
      <pc:sldChg chg="del">
        <pc:chgData name="Uy KHOU" userId="10ed8cde-c9bc-4d95-9e8d-22bcd9395bd9" providerId="ADAL" clId="{9152C54D-377D-5AE4-9CEA-49EBD86CD6C0}" dt="2026-10-22T12:06:16.952" v="545" actId="2696"/>
        <pc:sldMkLst>
          <pc:docMk/>
          <pc:sldMk cId="0" sldId="323"/>
        </pc:sldMkLst>
      </pc:sldChg>
      <pc:sldChg chg="modSp mod">
        <pc:chgData name="Uy KHOU" userId="10ed8cde-c9bc-4d95-9e8d-22bcd9395bd9" providerId="ADAL" clId="{9152C54D-377D-5AE4-9CEA-49EBD86CD6C0}" dt="2026-10-13T15:20:00.591" v="144" actId="26606"/>
        <pc:sldMkLst>
          <pc:docMk/>
          <pc:sldMk cId="1587916094" sldId="324"/>
        </pc:sldMkLst>
        <pc:picChg chg="mod">
          <ac:chgData name="Uy KHOU" userId="10ed8cde-c9bc-4d95-9e8d-22bcd9395bd9" providerId="ADAL" clId="{9152C54D-377D-5AE4-9CEA-49EBD86CD6C0}" dt="2026-10-13T15:20:00.591" v="144" actId="26606"/>
          <ac:picMkLst>
            <pc:docMk/>
            <pc:sldMk cId="1587916094" sldId="324"/>
            <ac:picMk id="2" creationId="{8C4F42FC-18B9-445B-F2E3-9968334E06A1}"/>
          </ac:picMkLst>
        </pc:picChg>
      </pc:sldChg>
      <pc:sldChg chg="modSp mod">
        <pc:chgData name="Uy KHOU" userId="10ed8cde-c9bc-4d95-9e8d-22bcd9395bd9" providerId="ADAL" clId="{9152C54D-377D-5AE4-9CEA-49EBD86CD6C0}" dt="2026-10-22T12:06:35.451" v="548" actId="1076"/>
        <pc:sldMkLst>
          <pc:docMk/>
          <pc:sldMk cId="3129926513" sldId="325"/>
        </pc:sldMkLst>
        <pc:picChg chg="mod">
          <ac:chgData name="Uy KHOU" userId="10ed8cde-c9bc-4d95-9e8d-22bcd9395bd9" providerId="ADAL" clId="{9152C54D-377D-5AE4-9CEA-49EBD86CD6C0}" dt="2026-10-22T12:06:35.451" v="548" actId="1076"/>
          <ac:picMkLst>
            <pc:docMk/>
            <pc:sldMk cId="3129926513" sldId="325"/>
            <ac:picMk id="2" creationId="{838919AC-735E-CBEE-49D6-D7E4863BDB3A}"/>
          </ac:picMkLst>
        </pc:picChg>
        <pc:picChg chg="mod">
          <ac:chgData name="Uy KHOU" userId="10ed8cde-c9bc-4d95-9e8d-22bcd9395bd9" providerId="ADAL" clId="{9152C54D-377D-5AE4-9CEA-49EBD86CD6C0}" dt="2026-10-22T12:06:32.984" v="547" actId="1076"/>
          <ac:picMkLst>
            <pc:docMk/>
            <pc:sldMk cId="3129926513" sldId="325"/>
            <ac:picMk id="4" creationId="{482C3489-FE54-B2FF-92A4-928929C0A539}"/>
          </ac:picMkLst>
        </pc:picChg>
      </pc:sldChg>
      <pc:sldChg chg="modSp mod">
        <pc:chgData name="Uy KHOU" userId="10ed8cde-c9bc-4d95-9e8d-22bcd9395bd9" providerId="ADAL" clId="{9152C54D-377D-5AE4-9CEA-49EBD86CD6C0}" dt="2026-10-22T12:09:43.565" v="571" actId="1076"/>
        <pc:sldMkLst>
          <pc:docMk/>
          <pc:sldMk cId="771970425" sldId="326"/>
        </pc:sldMkLst>
        <pc:graphicFrameChg chg="mod modGraphic">
          <ac:chgData name="Uy KHOU" userId="10ed8cde-c9bc-4d95-9e8d-22bcd9395bd9" providerId="ADAL" clId="{9152C54D-377D-5AE4-9CEA-49EBD86CD6C0}" dt="2026-10-22T12:09:43.565" v="571" actId="1076"/>
          <ac:graphicFrameMkLst>
            <pc:docMk/>
            <pc:sldMk cId="771970425" sldId="326"/>
            <ac:graphicFrameMk id="3" creationId="{4EFA2197-402A-F5EA-C820-707F6AC82D2C}"/>
          </ac:graphicFrameMkLst>
        </pc:graphicFrameChg>
      </pc:sldChg>
      <pc:sldChg chg="modSp del mod">
        <pc:chgData name="Uy KHOU" userId="10ed8cde-c9bc-4d95-9e8d-22bcd9395bd9" providerId="ADAL" clId="{9152C54D-377D-5AE4-9CEA-49EBD86CD6C0}" dt="2026-10-22T12:08:27.378" v="564" actId="2696"/>
        <pc:sldMkLst>
          <pc:docMk/>
          <pc:sldMk cId="234587607" sldId="327"/>
        </pc:sldMkLst>
        <pc:picChg chg="mod">
          <ac:chgData name="Uy KHOU" userId="10ed8cde-c9bc-4d95-9e8d-22bcd9395bd9" providerId="ADAL" clId="{9152C54D-377D-5AE4-9CEA-49EBD86CD6C0}" dt="2026-10-22T12:06:51.184" v="549" actId="1076"/>
          <ac:picMkLst>
            <pc:docMk/>
            <pc:sldMk cId="234587607" sldId="327"/>
            <ac:picMk id="2" creationId="{65C94050-0636-A0E2-45CA-1D7BEF8051C7}"/>
          </ac:picMkLst>
        </pc:picChg>
        <pc:picChg chg="mod">
          <ac:chgData name="Uy KHOU" userId="10ed8cde-c9bc-4d95-9e8d-22bcd9395bd9" providerId="ADAL" clId="{9152C54D-377D-5AE4-9CEA-49EBD86CD6C0}" dt="2026-10-22T12:06:58.070" v="551" actId="1076"/>
          <ac:picMkLst>
            <pc:docMk/>
            <pc:sldMk cId="234587607" sldId="327"/>
            <ac:picMk id="3" creationId="{5CFD3AA6-C9CC-BD39-4739-8B63E1E893DC}"/>
          </ac:picMkLst>
        </pc:picChg>
        <pc:picChg chg="mod">
          <ac:chgData name="Uy KHOU" userId="10ed8cde-c9bc-4d95-9e8d-22bcd9395bd9" providerId="ADAL" clId="{9152C54D-377D-5AE4-9CEA-49EBD86CD6C0}" dt="2026-10-22T12:06:54.111" v="550" actId="1076"/>
          <ac:picMkLst>
            <pc:docMk/>
            <pc:sldMk cId="234587607" sldId="327"/>
            <ac:picMk id="6" creationId="{64C89B18-FEEE-5218-D4D4-44DF1A76D9FB}"/>
          </ac:picMkLst>
        </pc:picChg>
      </pc:sldChg>
      <pc:sldChg chg="modSp add del mod modShow">
        <pc:chgData name="Uy KHOU" userId="10ed8cde-c9bc-4d95-9e8d-22bcd9395bd9" providerId="ADAL" clId="{9152C54D-377D-5AE4-9CEA-49EBD86CD6C0}" dt="2026-10-22T12:08:41.711" v="565" actId="34476"/>
        <pc:sldMkLst>
          <pc:docMk/>
          <pc:sldMk cId="63592038" sldId="328"/>
        </pc:sldMkLst>
        <pc:picChg chg="mod">
          <ac:chgData name="Uy KHOU" userId="10ed8cde-c9bc-4d95-9e8d-22bcd9395bd9" providerId="ADAL" clId="{9152C54D-377D-5AE4-9CEA-49EBD86CD6C0}" dt="2026-10-22T12:07:38.204" v="557" actId="1076"/>
          <ac:picMkLst>
            <pc:docMk/>
            <pc:sldMk cId="63592038" sldId="328"/>
            <ac:picMk id="2" creationId="{87DC1CA6-8264-C5F7-C155-60969BBB4B03}"/>
          </ac:picMkLst>
        </pc:picChg>
        <pc:picChg chg="mod">
          <ac:chgData name="Uy KHOU" userId="10ed8cde-c9bc-4d95-9e8d-22bcd9395bd9" providerId="ADAL" clId="{9152C54D-377D-5AE4-9CEA-49EBD86CD6C0}" dt="2026-10-22T12:07:30.226" v="556" actId="1076"/>
          <ac:picMkLst>
            <pc:docMk/>
            <pc:sldMk cId="63592038" sldId="328"/>
            <ac:picMk id="3" creationId="{AF3D20EE-10C2-7E11-A808-387AFBD3BE75}"/>
          </ac:picMkLst>
        </pc:picChg>
        <pc:picChg chg="mod">
          <ac:chgData name="Uy KHOU" userId="10ed8cde-c9bc-4d95-9e8d-22bcd9395bd9" providerId="ADAL" clId="{9152C54D-377D-5AE4-9CEA-49EBD86CD6C0}" dt="2026-10-22T12:07:43.154" v="558" actId="1076"/>
          <ac:picMkLst>
            <pc:docMk/>
            <pc:sldMk cId="63592038" sldId="328"/>
            <ac:picMk id="4" creationId="{BAE761F4-5450-E6F0-C9C1-FE6F9E2A431D}"/>
          </ac:picMkLst>
        </pc:picChg>
      </pc:sldChg>
      <pc:sldChg chg="ord">
        <pc:chgData name="Uy KHOU" userId="10ed8cde-c9bc-4d95-9e8d-22bcd9395bd9" providerId="ADAL" clId="{9152C54D-377D-5AE4-9CEA-49EBD86CD6C0}" dt="2026-10-22T12:07:56.174" v="560" actId="20578"/>
        <pc:sldMkLst>
          <pc:docMk/>
          <pc:sldMk cId="2034078734" sldId="329"/>
        </pc:sldMkLst>
      </pc:sldChg>
      <pc:sldChg chg="del">
        <pc:chgData name="Uy KHOU" userId="10ed8cde-c9bc-4d95-9e8d-22bcd9395bd9" providerId="ADAL" clId="{9152C54D-377D-5AE4-9CEA-49EBD86CD6C0}" dt="2026-10-22T12:08:09.777" v="561" actId="2696"/>
        <pc:sldMkLst>
          <pc:docMk/>
          <pc:sldMk cId="2978564244" sldId="330"/>
        </pc:sldMkLst>
      </pc:sldChg>
      <pc:sldChg chg="addSp modSp new del mod">
        <pc:chgData name="Uy KHOU" userId="10ed8cde-c9bc-4d95-9e8d-22bcd9395bd9" providerId="ADAL" clId="{9152C54D-377D-5AE4-9CEA-49EBD86CD6C0}" dt="2026-10-22T12:09:16.237" v="567" actId="2696"/>
        <pc:sldMkLst>
          <pc:docMk/>
          <pc:sldMk cId="1626605481" sldId="331"/>
        </pc:sldMkLst>
        <pc:spChg chg="add mod">
          <ac:chgData name="Uy KHOU" userId="10ed8cde-c9bc-4d95-9e8d-22bcd9395bd9" providerId="ADAL" clId="{9152C54D-377D-5AE4-9CEA-49EBD86CD6C0}" dt="2026-10-07T14:06:07.716" v="51" actId="1076"/>
          <ac:spMkLst>
            <pc:docMk/>
            <pc:sldMk cId="1626605481" sldId="331"/>
            <ac:spMk id="4" creationId="{C9815EC8-A2BF-9F02-AD69-250CCAE8635C}"/>
          </ac:spMkLst>
        </pc:spChg>
        <pc:graphicFrameChg chg="add mod modGraphic">
          <ac:chgData name="Uy KHOU" userId="10ed8cde-c9bc-4d95-9e8d-22bcd9395bd9" providerId="ADAL" clId="{9152C54D-377D-5AE4-9CEA-49EBD86CD6C0}" dt="2026-10-07T14:06:01.723" v="50" actId="14734"/>
          <ac:graphicFrameMkLst>
            <pc:docMk/>
            <pc:sldMk cId="1626605481" sldId="331"/>
            <ac:graphicFrameMk id="2" creationId="{4A6CFC23-7D55-1C20-B58F-27C195BB2EA8}"/>
          </ac:graphicFrameMkLst>
        </pc:graphicFrameChg>
      </pc:sldChg>
      <pc:sldChg chg="addSp delSp modSp new del mod">
        <pc:chgData name="Uy KHOU" userId="10ed8cde-c9bc-4d95-9e8d-22bcd9395bd9" providerId="ADAL" clId="{9152C54D-377D-5AE4-9CEA-49EBD86CD6C0}" dt="2026-10-22T12:09:18.816" v="568" actId="2696"/>
        <pc:sldMkLst>
          <pc:docMk/>
          <pc:sldMk cId="1751918446" sldId="332"/>
        </pc:sldMkLst>
        <pc:spChg chg="add mod">
          <ac:chgData name="Uy KHOU" userId="10ed8cde-c9bc-4d95-9e8d-22bcd9395bd9" providerId="ADAL" clId="{9152C54D-377D-5AE4-9CEA-49EBD86CD6C0}" dt="2026-10-07T14:17:02.514" v="127" actId="20577"/>
          <ac:spMkLst>
            <pc:docMk/>
            <pc:sldMk cId="1751918446" sldId="332"/>
            <ac:spMk id="5" creationId="{54C9BCDF-38AD-C26F-5264-2929055419CE}"/>
          </ac:spMkLst>
        </pc:spChg>
        <pc:graphicFrameChg chg="add mod modGraphic">
          <ac:chgData name="Uy KHOU" userId="10ed8cde-c9bc-4d95-9e8d-22bcd9395bd9" providerId="ADAL" clId="{9152C54D-377D-5AE4-9CEA-49EBD86CD6C0}" dt="2026-10-07T14:16:30.033" v="122" actId="404"/>
          <ac:graphicFrameMkLst>
            <pc:docMk/>
            <pc:sldMk cId="1751918446" sldId="332"/>
            <ac:graphicFrameMk id="2" creationId="{42C23EDF-BC91-48C9-7DC6-66C7E4451021}"/>
          </ac:graphicFrameMkLst>
        </pc:graphicFrameChg>
        <pc:graphicFrameChg chg="add mod modGraphic">
          <ac:chgData name="Uy KHOU" userId="10ed8cde-c9bc-4d95-9e8d-22bcd9395bd9" providerId="ADAL" clId="{9152C54D-377D-5AE4-9CEA-49EBD86CD6C0}" dt="2026-10-07T14:16:36.538" v="123" actId="403"/>
          <ac:graphicFrameMkLst>
            <pc:docMk/>
            <pc:sldMk cId="1751918446" sldId="332"/>
            <ac:graphicFrameMk id="6" creationId="{324A9B65-BC6C-4A94-2142-5726D06D5012}"/>
          </ac:graphicFrameMkLst>
        </pc:graphicFrameChg>
      </pc:sldChg>
      <pc:sldChg chg="delSp modSp add del mod">
        <pc:chgData name="Uy KHOU" userId="10ed8cde-c9bc-4d95-9e8d-22bcd9395bd9" providerId="ADAL" clId="{9152C54D-377D-5AE4-9CEA-49EBD86CD6C0}" dt="2026-10-22T12:09:21.991" v="569" actId="2696"/>
        <pc:sldMkLst>
          <pc:docMk/>
          <pc:sldMk cId="2409427946" sldId="333"/>
        </pc:sldMkLst>
        <pc:graphicFrameChg chg="mod modGraphic">
          <ac:chgData name="Uy KHOU" userId="10ed8cde-c9bc-4d95-9e8d-22bcd9395bd9" providerId="ADAL" clId="{9152C54D-377D-5AE4-9CEA-49EBD86CD6C0}" dt="2026-10-07T14:11:26.858" v="72" actId="14734"/>
          <ac:graphicFrameMkLst>
            <pc:docMk/>
            <pc:sldMk cId="2409427946" sldId="333"/>
            <ac:graphicFrameMk id="3" creationId="{7B7266EE-6C59-F5FC-19AD-5701408A89A5}"/>
          </ac:graphicFrameMkLst>
        </pc:graphicFrameChg>
      </pc:sldChg>
      <pc:sldChg chg="addSp modSp new mod">
        <pc:chgData name="Uy KHOU" userId="10ed8cde-c9bc-4d95-9e8d-22bcd9395bd9" providerId="ADAL" clId="{9152C54D-377D-5AE4-9CEA-49EBD86CD6C0}" dt="2026-10-22T12:08:52.326" v="566" actId="1076"/>
        <pc:sldMkLst>
          <pc:docMk/>
          <pc:sldMk cId="1193953517" sldId="334"/>
        </pc:sldMkLst>
        <pc:picChg chg="add mod">
          <ac:chgData name="Uy KHOU" userId="10ed8cde-c9bc-4d95-9e8d-22bcd9395bd9" providerId="ADAL" clId="{9152C54D-377D-5AE4-9CEA-49EBD86CD6C0}" dt="2026-10-22T12:08:52.326" v="566" actId="1076"/>
          <ac:picMkLst>
            <pc:docMk/>
            <pc:sldMk cId="1193953517" sldId="334"/>
            <ac:picMk id="2" creationId="{1047F109-3107-E2B5-2979-44AA51D96D8B}"/>
          </ac:picMkLst>
        </pc:picChg>
      </pc:sldChg>
      <pc:sldChg chg="addSp delSp modSp add mod setBg">
        <pc:chgData name="Uy KHOU" userId="10ed8cde-c9bc-4d95-9e8d-22bcd9395bd9" providerId="ADAL" clId="{9152C54D-377D-5AE4-9CEA-49EBD86CD6C0}" dt="2026-10-13T15:34:18.158" v="544" actId="20577"/>
        <pc:sldMkLst>
          <pc:docMk/>
          <pc:sldMk cId="1939112199" sldId="335"/>
        </pc:sldMkLst>
        <pc:spChg chg="mod">
          <ac:chgData name="Uy KHOU" userId="10ed8cde-c9bc-4d95-9e8d-22bcd9395bd9" providerId="ADAL" clId="{9152C54D-377D-5AE4-9CEA-49EBD86CD6C0}" dt="2026-10-13T15:26:57.670" v="333" actId="14100"/>
          <ac:spMkLst>
            <pc:docMk/>
            <pc:sldMk cId="1939112199" sldId="335"/>
            <ac:spMk id="3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11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13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34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36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50" creationId="{00000000-0000-0000-0000-000000000000}"/>
          </ac:spMkLst>
        </pc:spChg>
        <pc:spChg chg="add mod">
          <ac:chgData name="Uy KHOU" userId="10ed8cde-c9bc-4d95-9e8d-22bcd9395bd9" providerId="ADAL" clId="{9152C54D-377D-5AE4-9CEA-49EBD86CD6C0}" dt="2026-10-13T15:34:18.158" v="544" actId="20577"/>
          <ac:spMkLst>
            <pc:docMk/>
            <pc:sldMk cId="1939112199" sldId="335"/>
            <ac:spMk id="52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71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73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6:12.472" v="301" actId="1076"/>
          <ac:spMkLst>
            <pc:docMk/>
            <pc:sldMk cId="1939112199" sldId="335"/>
            <ac:spMk id="94" creationId="{00000000-0000-0000-0000-000000000000}"/>
          </ac:spMkLst>
        </pc:spChg>
        <pc:spChg chg="add">
          <ac:chgData name="Uy KHOU" userId="10ed8cde-c9bc-4d95-9e8d-22bcd9395bd9" providerId="ADAL" clId="{9152C54D-377D-5AE4-9CEA-49EBD86CD6C0}" dt="2026-10-13T15:20:47.020" v="145" actId="26606"/>
          <ac:spMkLst>
            <pc:docMk/>
            <pc:sldMk cId="1939112199" sldId="335"/>
            <ac:spMk id="95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6:23.258" v="305" actId="20577"/>
          <ac:spMkLst>
            <pc:docMk/>
            <pc:sldMk cId="1939112199" sldId="335"/>
            <ac:spMk id="96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6:26.465" v="307" actId="20577"/>
          <ac:spMkLst>
            <pc:docMk/>
            <pc:sldMk cId="1939112199" sldId="335"/>
            <ac:spMk id="99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3:41.301" v="214" actId="20577"/>
          <ac:spMkLst>
            <pc:docMk/>
            <pc:sldMk cId="1939112199" sldId="335"/>
            <ac:spMk id="103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7:14.593" v="345" actId="20577"/>
          <ac:spMkLst>
            <pc:docMk/>
            <pc:sldMk cId="1939112199" sldId="335"/>
            <ac:spMk id="104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3:19.647" v="204" actId="20577"/>
          <ac:spMkLst>
            <pc:docMk/>
            <pc:sldMk cId="1939112199" sldId="335"/>
            <ac:spMk id="106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7:21.004" v="359" actId="20577"/>
          <ac:spMkLst>
            <pc:docMk/>
            <pc:sldMk cId="1939112199" sldId="335"/>
            <ac:spMk id="107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3:36.449" v="212" actId="20577"/>
          <ac:spMkLst>
            <pc:docMk/>
            <pc:sldMk cId="1939112199" sldId="335"/>
            <ac:spMk id="109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7:32.273" v="375" actId="20577"/>
          <ac:spMkLst>
            <pc:docMk/>
            <pc:sldMk cId="1939112199" sldId="335"/>
            <ac:spMk id="110" creationId="{00000000-0000-0000-0000-000000000000}"/>
          </ac:spMkLst>
        </pc:spChg>
        <pc:spChg chg="mod">
          <ac:chgData name="Uy KHOU" userId="10ed8cde-c9bc-4d95-9e8d-22bcd9395bd9" providerId="ADAL" clId="{9152C54D-377D-5AE4-9CEA-49EBD86CD6C0}" dt="2026-10-13T15:23:55.273" v="245" actId="20577"/>
          <ac:spMkLst>
            <pc:docMk/>
            <pc:sldMk cId="1939112199" sldId="335"/>
            <ac:spMk id="112" creationId="{00000000-0000-0000-0000-000000000000}"/>
          </ac:spMkLst>
        </pc:spChg>
      </pc:sldChg>
      <pc:sldChg chg="addSp delSp modSp add mod">
        <pc:chgData name="Uy KHOU" userId="10ed8cde-c9bc-4d95-9e8d-22bcd9395bd9" providerId="ADAL" clId="{9152C54D-377D-5AE4-9CEA-49EBD86CD6C0}" dt="2026-10-13T15:33:37.392" v="542" actId="20577"/>
        <pc:sldMkLst>
          <pc:docMk/>
          <pc:sldMk cId="566879717" sldId="336"/>
        </pc:sldMkLst>
        <pc:spChg chg="mod">
          <ac:chgData name="Uy KHOU" userId="10ed8cde-c9bc-4d95-9e8d-22bcd9395bd9" providerId="ADAL" clId="{9152C54D-377D-5AE4-9CEA-49EBD86CD6C0}" dt="2026-10-13T15:33:37.392" v="542" actId="20577"/>
          <ac:spMkLst>
            <pc:docMk/>
            <pc:sldMk cId="566879717" sldId="336"/>
            <ac:spMk id="3" creationId="{505FFA52-F9F1-B523-3A68-B28E9D61E60F}"/>
          </ac:spMkLst>
        </pc:spChg>
        <pc:picChg chg="add mod">
          <ac:chgData name="Uy KHOU" userId="10ed8cde-c9bc-4d95-9e8d-22bcd9395bd9" providerId="ADAL" clId="{9152C54D-377D-5AE4-9CEA-49EBD86CD6C0}" dt="2026-10-13T15:33:02.237" v="462" actId="1076"/>
          <ac:picMkLst>
            <pc:docMk/>
            <pc:sldMk cId="566879717" sldId="336"/>
            <ac:picMk id="4" creationId="{BDBF8460-0DB2-1AF5-B5EA-282F5F9A232A}"/>
          </ac:picMkLst>
        </pc:picChg>
      </pc:sldChg>
      <pc:sldChg chg="addSp delSp modSp add mod ord">
        <pc:chgData name="Uy KHOU" userId="10ed8cde-c9bc-4d95-9e8d-22bcd9395bd9" providerId="ADAL" clId="{9152C54D-377D-5AE4-9CEA-49EBD86CD6C0}" dt="2026-10-13T15:32:26.076" v="460" actId="1076"/>
        <pc:sldMkLst>
          <pc:docMk/>
          <pc:sldMk cId="1780358241" sldId="337"/>
        </pc:sldMkLst>
        <pc:spChg chg="mod">
          <ac:chgData name="Uy KHOU" userId="10ed8cde-c9bc-4d95-9e8d-22bcd9395bd9" providerId="ADAL" clId="{9152C54D-377D-5AE4-9CEA-49EBD86CD6C0}" dt="2026-10-13T15:29:47.220" v="410" actId="20577"/>
          <ac:spMkLst>
            <pc:docMk/>
            <pc:sldMk cId="1780358241" sldId="337"/>
            <ac:spMk id="3" creationId="{85F0B2CF-7903-B90F-F329-194D32A43887}"/>
          </ac:spMkLst>
        </pc:spChg>
        <pc:spChg chg="add mod">
          <ac:chgData name="Uy KHOU" userId="10ed8cde-c9bc-4d95-9e8d-22bcd9395bd9" providerId="ADAL" clId="{9152C54D-377D-5AE4-9CEA-49EBD86CD6C0}" dt="2026-10-13T15:32:26.076" v="460" actId="1076"/>
          <ac:spMkLst>
            <pc:docMk/>
            <pc:sldMk cId="1780358241" sldId="337"/>
            <ac:spMk id="5" creationId="{BADD8D91-1BDC-2C22-1E90-0E66F5CD6E25}"/>
          </ac:spMkLst>
        </pc:spChg>
        <pc:spChg chg="add mod">
          <ac:chgData name="Uy KHOU" userId="10ed8cde-c9bc-4d95-9e8d-22bcd9395bd9" providerId="ADAL" clId="{9152C54D-377D-5AE4-9CEA-49EBD86CD6C0}" dt="2026-10-13T15:32:21.501" v="459" actId="1076"/>
          <ac:spMkLst>
            <pc:docMk/>
            <pc:sldMk cId="1780358241" sldId="337"/>
            <ac:spMk id="6" creationId="{9ABB5CCF-4DB0-7575-E4C4-7DDEC8B59501}"/>
          </ac:spMkLst>
        </pc:spChg>
        <pc:picChg chg="mod">
          <ac:chgData name="Uy KHOU" userId="10ed8cde-c9bc-4d95-9e8d-22bcd9395bd9" providerId="ADAL" clId="{9152C54D-377D-5AE4-9CEA-49EBD86CD6C0}" dt="2026-10-13T15:30:44.601" v="430" actId="1076"/>
          <ac:picMkLst>
            <pc:docMk/>
            <pc:sldMk cId="1780358241" sldId="337"/>
            <ac:picMk id="2" creationId="{396196D4-D7F2-9E31-C793-C411A8222A4D}"/>
          </ac:picMkLst>
        </pc:picChg>
      </pc:sldChg>
      <pc:sldChg chg="add setBg">
        <pc:chgData name="Uy KHOU" userId="10ed8cde-c9bc-4d95-9e8d-22bcd9395bd9" providerId="ADAL" clId="{9152C54D-377D-5AE4-9CEA-49EBD86CD6C0}" dt="2026-10-13T15:33:55.188" v="543"/>
        <pc:sldMkLst>
          <pc:docMk/>
          <pc:sldMk cId="4232401580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37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B657-6DFA-FB09-859A-61FD0A5C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>
            <a:extLst>
              <a:ext uri="{FF2B5EF4-FFF2-40B4-BE49-F238E27FC236}">
                <a16:creationId xmlns:a16="http://schemas.microsoft.com/office/drawing/2014/main" id="{550827DF-1923-066D-3538-FCCFEBD76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771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4F04-7D6C-AC53-0A0E-335E36E0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>
            <a:extLst>
              <a:ext uri="{FF2B5EF4-FFF2-40B4-BE49-F238E27FC236}">
                <a16:creationId xmlns:a16="http://schemas.microsoft.com/office/drawing/2014/main" id="{E2B9EDFC-A4C1-EE5D-B114-7555341BF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75755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6321-98E8-BCF0-3FCA-38B08730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>
            <a:extLst>
              <a:ext uri="{FF2B5EF4-FFF2-40B4-BE49-F238E27FC236}">
                <a16:creationId xmlns:a16="http://schemas.microsoft.com/office/drawing/2014/main" id="{FD9C2D6E-AE6A-E48B-B574-136DB0ED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2957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18FB-8044-112C-B432-EF352EA6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otes">
            <a:extLst>
              <a:ext uri="{FF2B5EF4-FFF2-40B4-BE49-F238E27FC236}">
                <a16:creationId xmlns:a16="http://schemas.microsoft.com/office/drawing/2014/main" id="{2FF66DE3-DB4C-CA06-8318-DCB850A01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619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8C455-E6FD-7A6F-B7F4-6A187A17D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36DE14-9EDD-E0F7-9E40-90EAA6D6D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E8F9B3-2B0B-C69A-0771-4B1F6EA9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1CCDFB-AFDF-EE9F-773D-0B85F232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08CDF3-D8F3-CCB2-DA54-E7C338F2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95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7C0D5-74E5-9B31-5AB0-303A08AB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48E132-9918-91E4-6ED8-F378828F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FFA2BA-2D99-D225-E0F3-03E8F3BF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EA4DB1-6B67-F2E4-945F-CD1A5264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818C08-74D4-B758-6EDA-283B754F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05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603A-FC6C-E0B6-99C4-64EA4D46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E72024-AE05-8F73-938D-E32724B02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966A85-4823-8D89-03A4-7F39C8FDB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590D58-8836-7DCA-7C61-9F8CD422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944B58-A436-1E1F-910E-7BDEB4C1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11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450DA-7431-A6D0-AA44-B148B1F4E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BD83E5-DF5B-A05E-7176-5B4EF9CF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BE35D5-210C-DD89-B198-2A1BEAC3E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4D14F0-44FC-B86B-F0A3-2026AC4F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A120A8-C1AF-F21A-D75C-552006FE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A19D1F-12C8-A3D0-1F3C-C8FFFD87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12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D5B5F-A67F-DFCE-075A-AD940C72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6E5A98-31D3-6596-E697-E2BB08F3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B37B96-6016-D5DE-DA21-545B4B36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18A46F-DE28-EE04-BA92-3FD6DE6D8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F9DCEAB-71F5-3E08-9987-6C105C111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AC3B47B-CBE8-EC2F-4818-4FBA81C3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84C1CFE-F5EB-2843-98FB-617C2382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E1CE4E-3100-2F85-454D-8B5E33F9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39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BD3A5-F8A7-8574-2CE2-9F1030E4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2F3241-8DCA-095D-18A9-F87C25C0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E00703-C375-F38B-ABFA-0647C3E7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B8C319-C5F0-F8D0-FC02-FC2A0A97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90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E54294-9FD6-1FEF-810F-4CBC411F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6639D61-87D9-F357-121E-3E0AC5E0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47BAE1-07F7-0FE6-D38B-CB39C09D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31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B1E0E-748F-7191-6EBA-5AE6918B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80F4E-33CA-874E-B760-DAAEC5EF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53F03B-99AD-6493-764B-0922A6CA3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E6B50B-F19F-CC53-627A-A60AEF1A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59C292-C1BD-49DD-9B4D-FA67A5CD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11434-09A6-178E-247E-18072031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99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32C36-3341-93B2-F988-11A4C5CEF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35A582-AA9F-737B-AD14-760A0B4922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5AE528-7E47-9DC9-A2D7-1E58D1BE0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04D34F-E298-AEF3-731A-2ACF8370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AE8967-3CFA-6A1A-0844-396E0209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FA1DA4-4823-6210-51B0-DBF5F859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43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020ED-4875-561E-8203-7E652E0E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EDBDD8-B27B-0F8D-6A9C-E10A4C1D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2B5F1C-E3D2-AE58-C459-FCBFD01B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29EF1E-A276-4AB9-805F-0F2C78C8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675E8E-3F2E-9DD2-4672-903FE667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24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E7C929-3B9C-FA37-1A8F-CE222DE77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8E54A2F-29B7-A2D1-E4C5-046B756A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D70E57-8222-29A4-1696-50486F7A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28DADA-8F32-684E-EE83-FA3A796D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04F1D-8D8E-6629-EC78-E9F2692D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2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AB79A1-CAAC-AADA-9E96-3100C684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1E8A44-AC93-F588-E701-C29243EB7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74E5F-21DB-A553-7095-4C366E546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C8F9E-4323-E34A-A7A7-34A39478A25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9C0A9-7699-9415-FEB3-E1D022F66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C2D90A-442D-CD37-A6D8-DF330743D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CCA05-FAE0-AF4E-ABB6-FC7E70E318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23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lan fonctionnel schématique de l’écurie Graffard Racing montrant les trois cours, le bureau, la direction, la piste, les intervenants, les acteurs nommés et leurs tâches">
            <a:extLst>
              <a:ext uri="{FF2B5EF4-FFF2-40B4-BE49-F238E27FC236}">
                <a16:creationId xmlns:a16="http://schemas.microsoft.com/office/drawing/2014/main" id="{DDD3DCEB-7F02-0F7B-9796-EB2C672E6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28" y="1"/>
            <a:ext cx="1028488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078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C4F42FC-18B9-445B-F2E3-9968334E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04" y="64541"/>
            <a:ext cx="10200149" cy="679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1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EFA2197-402A-F5EA-C820-707F6AC82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86887"/>
              </p:ext>
            </p:extLst>
          </p:nvPr>
        </p:nvGraphicFramePr>
        <p:xfrm>
          <a:off x="1670049" y="0"/>
          <a:ext cx="8851901" cy="68455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2800">
                  <a:extLst>
                    <a:ext uri="{9D8B030D-6E8A-4147-A177-3AD203B41FA5}">
                      <a16:colId xmlns:a16="http://schemas.microsoft.com/office/drawing/2014/main" val="2642636744"/>
                    </a:ext>
                  </a:extLst>
                </a:gridCol>
                <a:gridCol w="2377200">
                  <a:extLst>
                    <a:ext uri="{9D8B030D-6E8A-4147-A177-3AD203B41FA5}">
                      <a16:colId xmlns:a16="http://schemas.microsoft.com/office/drawing/2014/main" val="249088115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384380002"/>
                    </a:ext>
                  </a:extLst>
                </a:gridCol>
                <a:gridCol w="2146301">
                  <a:extLst>
                    <a:ext uri="{9D8B030D-6E8A-4147-A177-3AD203B41FA5}">
                      <a16:colId xmlns:a16="http://schemas.microsoft.com/office/drawing/2014/main" val="3617268481"/>
                    </a:ext>
                  </a:extLst>
                </a:gridCol>
              </a:tblGrid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Flux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Action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Support / outil actuel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Type de support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71940798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Nourrissage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Vérifier que chaque cheval a mangé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Observation de la mangeoire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Contrôle visuel, non tracé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47354729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Nourrissage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Identifier une alimentation spéciale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Astérisque sur le tableau de répartition des box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mural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65460728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Nourrissage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Signaler une anomalie à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Échange oral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Mémoire des personnes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83746802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Nourrissage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Décider de remonter l’anomalie à Francis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Appréciation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Mémoire / décision humaine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073821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Reprendre la composition de la veille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mural et mémoire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 + mémoire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14312032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Vérifier les disponibilités des cavaliers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Planning connu de l’équipe ; absences mémorisées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Papier / mémoire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85456994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Vérifier les engagements et statuts de course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France Galop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/ plateforme web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778339083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Déterminer le travail du cheval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Informations France Galop, état du cheval et mémoire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+ mémoire / décision humaine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536941572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Placer les chevaux au marcheur ou au repos box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Étiquettes sur le tableau des 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mural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46153651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Affecter cheval, cavalier et numéro de lot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Étiquettes cartonnées codées par couleur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mural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201335205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Diffuser la liste dans la cour principale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Lecture sur place du tableau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mural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81345235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Diffuser la liste aux autres cours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WhatsApp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Messagerie instantanée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03620638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Briefer le cavalier avant la piste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Échange oral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Mémoire des personnes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49417435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Réaliser le travail prévu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Consigne orale issue de la liste des 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Oral + 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59506949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Faire le retour après 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Échange oral du cavalier à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Mémoire des personnes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106207163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Pondérer la fiabilité du retour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Appréciation personnelle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Mémoire / jugement humain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970148613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Entraînement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Conserver l’historique du travail réalisé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Aucun support structuré confirmé ; éventuel fichier Excel de Romain à valider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Non tracé / Excel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12407634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Recevoir ordonnance, compte-rendu et facture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E-mail du vétérinaire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Messagerie électronique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635524860"/>
                  </a:ext>
                </a:extLst>
              </a:tr>
              <a:tr h="46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Noter injections, infiltrations, produits et doses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Agenda papier du bureau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Note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730950768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Afficher les traitements en cours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blanc derrière l’armoire à pharmacie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22335675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Afficher les traitements du jour dans chaque cour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Tableaux blancs Velleda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Tableaux physiques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89616288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Administrer le traitement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Lecture des agendas et tableaux ; exécution par les responsables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Papier + tableaux + action humaine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12186998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Calculer le délai de retrait et la date de réengagement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Formulaire Google alimentant un Google Sheet et une « vet list »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Formulaire / tableur en ligne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761376138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Vérifier la compatibilité avec un engagement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Comparaison manuelle entre la vet list et France Galop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Google Sheet + logiciel, sans liaison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032304121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Classer et conserver l’ordonnance cinq ans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Classeur d’ordonnances numérotées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Archivage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62387433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Identifier les chevaux à voir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blanc « Maréchal » et connaissance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 + mémoire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630707605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Prévenir le maréchal et ajuster avant une course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Échange direct avec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Oral / téléphone,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13101013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Tracer date et type de ferrure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Carnet personnel du 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Carnet papier externe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50711533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Suivre les partants et le ferrage associé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« Partants / Ferrage »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21398592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Préparer la facturation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Liste cheval / date / maréchal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Liste manuelle, support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5081462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Vaccination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Extraire la situation vaccinale chaque jeudi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France Galop puis impression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+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84342365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Vaccination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Sélectionner les chevaux à vacciner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Liste imprimée, engagements et décision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Papier + logiciel + mémoire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128240302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Vaccination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Remettre les carnets au vétérinaire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Carnets physiques des chevaux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Document papier réglementaire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834611191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Vaccination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Tracer le vaccin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Autocollant et inscription dans le carnet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Document papier réglementaire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172205658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Vaccination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Mettre à jour le statut vaccinal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France Galop, saisi par Ciara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/ plateforme web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67729386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Confirmer l’horaire d’arrivée ou de départ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Échange avec transporteur ou chauffeur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Téléphone / messagerie,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34674236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Informer les responsables d’écurie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Groupe WhatsApp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Messagerie instantanée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06252791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Contrôler l’identité à l’arrivée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Scanner de puce et carnet du cheval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Matériel de lecture + document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99019783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Enregistrer la date d’arrivée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Tampon dans le carnet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Document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726816681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Prévenir les propriétaires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Canal non précisé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43074264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Préparer le bon de sortie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Fiche manuelle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Note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629173839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Remettre les documents au chauffeur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Carnet et bon de sortie dans une enveloppe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Documents papier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286621862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Enregistrer le mouvement dans le calendrier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Calendrier tenu par Ciara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Calendrier, outil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56693833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Mettre à jour la facturation et les entrées-sorties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Equitop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15219328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Informer l’administration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Groupe WhatsApp « Admin »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Messagerie instantanée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632903918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Constituer le suivi mensuel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Google Sheet de Ciara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Tableur en ligne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793286111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Créer, réactiver, modifier ou supprimer le cheval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Equitop, The Racing Manager, Google Sheet de l’effectif, France Galop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Plusieurs logiciels / tableur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848803572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Mouvements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Mettre à jour la localisation et les 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Tableaux de localisation et tableau des lots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Tableaux physiques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27199654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Récupérer les données mensuelles de soins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Agendas papier des trois cours et e-mails vétérinaires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Papier + e-mail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0854290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Rapprocher les actes et les factures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Reconstitution manuelle par Nathalie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Traitement humain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29758735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Facturer pension et frais annexes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Equitop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975676035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Suivre la présence des employés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Fiche de présence signée dans Equitop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176210425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Connaître les courses pour le personnel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Planning des employés dans Equitop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28210845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Administration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Tenir le calendrier des courses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Fichier Excel de Romain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Tableur Excel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564510472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Localisation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Maintenir la localisation officielle du cheval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Equitop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métier, source de vérité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58810022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Localisation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Rendre la localisation visible au bureau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du bureau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724601625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Localisation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Rendre la localisation visible dans l’écurie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de l’écurie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09271236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Engagements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Enregistrer les engagements officiels français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France Galop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/ plateforme web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318863063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Engagements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Préremplir les engagements pour les propriétaires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API France Galop vers The Racing Manager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Interface entre logiciels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723313567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Engagements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Suivre manuellement les courses françaises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des engagements au bureau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physique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991550100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Engagements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Suivre les engagements internationaux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distinct de Lisa Jane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Tableau / tableur, support à confirmer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67906290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Propriétaires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Diffuser informations standard, replays et alertes breeding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The Racing Manager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426518869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Propriétaires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Ajouter des vidéos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The Racing Manager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Logiciel métier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769176556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Propriétaires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Échanger de manière personnalisée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Groupes WhatsApp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>
                          <a:effectLst/>
                        </a:rPr>
                        <a:t>Messagerie instantanée</a:t>
                      </a:r>
                      <a:endParaRPr lang="fr-FR" sz="6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88838454"/>
                  </a:ext>
                </a:extLst>
              </a:tr>
              <a:tr h="103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Propriétaires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Commenter les courses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Notes vocales WhatsApp de Francis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b="0" dirty="0">
                          <a:effectLst/>
                        </a:rPr>
                        <a:t>Messagerie vocale</a:t>
                      </a:r>
                      <a:endParaRPr lang="fr-FR" sz="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786" marR="24786" marT="0" marB="0"/>
                </a:tc>
                <a:extLst>
                  <a:ext uri="{0D108BD9-81ED-4DB2-BD59-A6C34878D82A}">
                    <a16:rowId xmlns:a16="http://schemas.microsoft.com/office/drawing/2014/main" val="25103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97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38919AC-735E-CBEE-49D6-D7E4863B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78" y="0"/>
            <a:ext cx="4572000" cy="685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82C3489-FE54-B2FF-92A4-928929C0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022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2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75CC7-4910-C5AB-C43F-DF1658B3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Environnement système cible de Graffard Racing">
            <a:extLst>
              <a:ext uri="{FF2B5EF4-FFF2-40B4-BE49-F238E27FC236}">
                <a16:creationId xmlns:a16="http://schemas.microsoft.com/office/drawing/2014/main" id="{87DC1CA6-8264-C5F7-C155-60969BBB4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6" y="-1"/>
            <a:ext cx="514244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Cartographie des actions de Graffard Racing indiquant pour chaque action le support actuel, le risque et l’outil cible recommandé">
            <a:extLst>
              <a:ext uri="{FF2B5EF4-FFF2-40B4-BE49-F238E27FC236}">
                <a16:creationId xmlns:a16="http://schemas.microsoft.com/office/drawing/2014/main" id="{AF3D20EE-10C2-7E11-A808-387AFBD3B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AE761F4-5450-E6F0-C9C1-FE6F9E2A4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6" y="3429707"/>
            <a:ext cx="5142440" cy="342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047F109-3107-E2B5-2979-44AA51D9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67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5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0E2841"/>
                </a:solidFill>
                <a:latin typeface="Aptos"/>
              </a:defRPr>
            </a:pPr>
            <a:r>
              <a:t>Processus fonctionnel de gestion de l’écurie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59536"/>
            <a:ext cx="11247120" cy="207749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536570"/>
                </a:solidFill>
                <a:latin typeface="Aptos"/>
              </a:defRPr>
            </a:pPr>
            <a:r>
              <a:rPr lang="fr-FR"/>
              <a:t>Briefing du 05/10 : l’assistant entraîneur prépare les affectations</a:t>
            </a:r>
            <a:r>
              <a:t>. </a:t>
            </a:r>
            <a:r>
              <a:rPr lang="fr-FR"/>
              <a:t>Les autres délégations restent </a:t>
            </a:r>
            <a:r>
              <a:t>à confirmer.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548640" cy="15388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32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26464"/>
            <a:ext cx="1828800" cy="22860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E2841"/>
                </a:solidFill>
                <a:latin typeface="Aptos"/>
              </a:defRPr>
            </a:pPr>
            <a:r>
              <a:t>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389888"/>
            <a:ext cx="1719072" cy="32004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56082"/>
                </a:solidFill>
                <a:latin typeface="Aptos"/>
              </a:defRPr>
            </a:pPr>
            <a:r>
              <a:t>1  Référencer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9976" y="1389888"/>
            <a:ext cx="1719072" cy="32004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56082"/>
                </a:solidFill>
                <a:latin typeface="Aptos"/>
              </a:defRPr>
            </a:pPr>
            <a:r>
              <a:t>2  Planifier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389888"/>
            <a:ext cx="1719072" cy="32004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56082"/>
                </a:solidFill>
                <a:latin typeface="Aptos"/>
              </a:defRPr>
            </a:pPr>
            <a:r>
              <a:t>3  Réaliser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1389888"/>
            <a:ext cx="1719072" cy="32004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56082"/>
                </a:solidFill>
                <a:latin typeface="Aptos"/>
              </a:defRPr>
            </a:pPr>
            <a:r>
              <a:t>4  Contrôler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76104" y="1389888"/>
            <a:ext cx="1719072" cy="32004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56082"/>
                </a:solidFill>
                <a:latin typeface="Aptos"/>
              </a:defRPr>
            </a:pPr>
            <a:r>
              <a:t>5  Engager / informer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11356848" cy="53035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901952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Entraîneur / direction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2322576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2322576"/>
            <a:ext cx="11356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386584"/>
            <a:ext cx="1901952" cy="40011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rPr lang="fr-FR" sz="1300"/>
              <a:t>Assistant
entraîneur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2852928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11480" y="2852928"/>
            <a:ext cx="11356848" cy="53035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2962656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Cavaliers / lads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3383280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1480" y="3383279"/>
            <a:ext cx="11356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493008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Vétérinaire / maréchal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3913631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1480" y="3913631"/>
            <a:ext cx="11356848" cy="53035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4023359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Administration / RH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" y="4443983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11480" y="4443983"/>
            <a:ext cx="11356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4553712"/>
            <a:ext cx="1901952" cy="196977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rPr lang="fr-FR"/>
              <a:t>Engagements / jockey</a:t>
            </a:r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411480" y="4974336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11480" y="4974336"/>
            <a:ext cx="11356848" cy="53035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5084064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Transporteur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5504688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11480" y="5504688"/>
            <a:ext cx="11356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5614416"/>
            <a:ext cx="1901952" cy="3474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280" b="1">
                <a:solidFill>
                  <a:srgbClr val="0E2841"/>
                </a:solidFill>
                <a:latin typeface="Aptos"/>
              </a:defRPr>
            </a:pPr>
            <a:r>
              <a:t>Propriétaire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" y="6035040"/>
            <a:ext cx="11356848" cy="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50008" y="1737360"/>
            <a:ext cx="0" cy="429768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88536" y="1737360"/>
            <a:ext cx="0" cy="429768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53912" y="1737360"/>
            <a:ext cx="0" cy="429768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19288" y="1737360"/>
            <a:ext cx="0" cy="429768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84664" y="1737360"/>
            <a:ext cx="0" cy="4297680"/>
          </a:xfrm>
          <a:prstGeom prst="line">
            <a:avLst/>
          </a:prstGeom>
          <a:ln w="7620">
            <a:solidFill>
              <a:srgbClr val="C9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514600" y="3982211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Effectif et mouvements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9976" y="3982211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Présences et planning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9976" y="1860804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Programme de travail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9976" y="2391156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Lots</a:t>
            </a:r>
            <a:r>
              <a:rPr lang="fr-FR"/>
              <a:t>, affectations
</a:t>
            </a:r>
            <a:r>
              <a:t>et </a:t>
            </a:r>
            <a:r>
              <a:rPr lang="fr-FR"/>
              <a:t>réaffectations</a:t>
            </a:r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45352" y="2921508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Travail, rations, notes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0727" y="2391156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Retours et alertes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0727" y="1860804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Adapter le programme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5352" y="3451860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Soins</a:t>
            </a:r>
            <a:r>
              <a:rPr lang="fr-FR"/>
              <a:t>,</a:t>
            </a:r>
            <a:r>
              <a:t> examens</a:t>
            </a:r>
            <a:r>
              <a:rPr lang="fr-FR"/>
              <a:t>, ferrure</a:t>
            </a:r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110727" y="3451860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Retraits et vaccins</a:t>
            </a:r>
          </a:p>
        </p:txBody>
      </p:sp>
      <p:sp>
        <p:nvSpPr>
          <p:cNvPr id="49" name="Diamond 48"/>
          <p:cNvSpPr/>
          <p:nvPr/>
        </p:nvSpPr>
        <p:spPr>
          <a:xfrm>
            <a:off x="8220455" y="4512564"/>
            <a:ext cx="1499616" cy="393192"/>
          </a:xfrm>
          <a:prstGeom prst="diamond">
            <a:avLst/>
          </a:prstGeom>
          <a:solidFill>
            <a:srgbClr val="FFFFFF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950">
                <a:solidFill>
                  <a:srgbClr val="0E2841"/>
                </a:solidFill>
                <a:latin typeface="Aptos"/>
              </a:defRPr>
            </a:pPr>
            <a:r>
              <a:t>Conforme ?</a:t>
            </a:r>
            <a:endParaRPr lang="fr-FR"/>
          </a:p>
        </p:txBody>
      </p:sp>
      <p:sp>
        <p:nvSpPr>
          <p:cNvPr id="50" name="Rounded Rectangle 49"/>
          <p:cNvSpPr/>
          <p:nvPr/>
        </p:nvSpPr>
        <p:spPr>
          <a:xfrm>
            <a:off x="9976104" y="4512564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Suivre l’engagement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76104" y="5042916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Assurer le déplacement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76104" y="5573268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Recevoir le suivi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76104" y="3982211"/>
            <a:ext cx="1719072" cy="393192"/>
          </a:xfrm>
          <a:prstGeom prst="roundRect">
            <a:avLst>
              <a:gd name="adj" fmla="val 8000"/>
            </a:avLst>
          </a:prstGeom>
          <a:solidFill>
            <a:srgbClr val="EDF4F7"/>
          </a:solidFill>
          <a:ln w="1079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1220">
                <a:solidFill>
                  <a:srgbClr val="0E2841"/>
                </a:solidFill>
                <a:latin typeface="Aptos"/>
              </a:defRPr>
            </a:pPr>
            <a:r>
              <a:t>Registre </a:t>
            </a:r>
            <a:r>
              <a:rPr lang="fr-FR"/>
              <a:t>/ </a:t>
            </a:r>
            <a:r>
              <a:t>facturation</a:t>
            </a:r>
            <a:r>
              <a:rPr lang="fr-FR"/>
              <a:t>*</a:t>
            </a:r>
            <a:endParaRPr/>
          </a:p>
        </p:txBody>
      </p:sp>
      <p:cxnSp>
        <p:nvCxnSpPr>
          <p:cNvPr id="54" name="Connector 53"/>
          <p:cNvCxnSpPr/>
          <p:nvPr/>
        </p:nvCxnSpPr>
        <p:spPr>
          <a:xfrm flipV="1">
            <a:off x="8970264" y="2253996"/>
            <a:ext cx="0" cy="13716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33672" y="4178807"/>
            <a:ext cx="146304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99048" y="2587752"/>
            <a:ext cx="73152" cy="0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72200" y="2587752"/>
            <a:ext cx="0" cy="530352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172200" y="3118104"/>
            <a:ext cx="73152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964424" y="3118104"/>
            <a:ext cx="73151" cy="0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037575" y="2587752"/>
            <a:ext cx="0" cy="530352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37575" y="2587752"/>
            <a:ext cx="73152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64424" y="3648456"/>
            <a:ext cx="146303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20072" y="4709159"/>
            <a:ext cx="256032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239512" y="2253996"/>
            <a:ext cx="0" cy="13716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829800" y="3648456"/>
            <a:ext cx="36576" cy="0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66376" y="3648456"/>
            <a:ext cx="0" cy="790956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970263" y="4439412"/>
            <a:ext cx="896113" cy="0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970263" y="4439412"/>
            <a:ext cx="0" cy="73152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835640" y="4905755"/>
            <a:ext cx="0" cy="137161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835640" y="5436107"/>
            <a:ext cx="0" cy="137161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8046720" y="4709160"/>
            <a:ext cx="173736" cy="0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46720" y="3579876"/>
            <a:ext cx="0" cy="1129284"/>
          </a:xfrm>
          <a:prstGeom prst="line">
            <a:avLst/>
          </a:prstGeom>
          <a:ln w="762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964424" y="3579876"/>
            <a:ext cx="82296" cy="0"/>
          </a:xfrm>
          <a:prstGeom prst="line">
            <a:avLst/>
          </a:prstGeom>
          <a:ln w="14604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571231" y="4590288"/>
            <a:ext cx="411480" cy="138499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C531E"/>
                </a:solidFill>
                <a:latin typeface="Aptos"/>
              </a:defRPr>
            </a:pPr>
            <a:r>
              <a:t>Non</a:t>
            </a:r>
            <a:endParaRPr lang="fr-FR"/>
          </a:p>
        </p:txBody>
      </p:sp>
      <p:sp>
        <p:nvSpPr>
          <p:cNvPr id="75" name="TextBox 74"/>
          <p:cNvSpPr txBox="1"/>
          <p:nvPr/>
        </p:nvSpPr>
        <p:spPr>
          <a:xfrm>
            <a:off x="9683496" y="4507992"/>
            <a:ext cx="320040" cy="130805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156082"/>
                </a:solidFill>
                <a:latin typeface="Aptos"/>
              </a:defRPr>
            </a:pPr>
            <a:r>
              <a:rPr lang="fr-FR"/>
              <a:t>Oui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47304" y="6099048"/>
            <a:ext cx="3493008" cy="169277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C531E"/>
                </a:solidFill>
                <a:latin typeface="Aptos"/>
              </a:defRPr>
            </a:pPr>
            <a:r>
              <a:rPr lang="fr-FR"/>
              <a:t>Non conforme </a:t>
            </a:r>
            <a:r>
              <a:t>: </a:t>
            </a:r>
            <a:r>
              <a:rPr lang="fr-FR"/>
              <a:t>reporter </a:t>
            </a:r>
            <a:r>
              <a:t>et </a:t>
            </a:r>
            <a:r>
              <a:rPr lang="fr-FR"/>
              <a:t>revoir les soins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0AE0FF04-0568-7B07-C74C-14298E778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0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0E2841"/>
                </a:solidFill>
                <a:latin typeface="Aptos"/>
              </a:defRPr>
            </a:pPr>
            <a:r>
              <a:t>Rôles et responsabilités des intervenants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59536"/>
            <a:ext cx="11247120" cy="207749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536570"/>
                </a:solidFill>
                <a:latin typeface="Aptos"/>
              </a:defRPr>
            </a:pPr>
            <a:r>
              <a:rPr lang="fr-FR"/>
              <a:t>Rôles métier actualisés avec le briefing du 05/10. Délégations détaillées et droits d’accès à confirmer.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548640" cy="15388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33</a:t>
            </a:r>
            <a:endParaRPr/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09753"/>
              </p:ext>
            </p:extLst>
          </p:nvPr>
        </p:nvGraphicFramePr>
        <p:xfrm>
          <a:off x="438912" y="1353312"/>
          <a:ext cx="11301984" cy="471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Persona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Rôles et responsabilités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Éléments déclencheurs des tâches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Entraîneur / direction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Définit le travail des chevaux et les priorités. Arbitre les alertes et les engagements avec les intervenants.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Début de journée, alerte santé ou retour de piste, échéance d’engagement.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rPr lang="fr-FR"/>
                        <a:t>Assistant entraîneur / relais de cour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Prépare les lots et affecte chevaux et cavaliers. Les relais de cour suivent l’exécution, selon une délégation à confirmer.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Chaque matin, absence d’un cavalier ou changement de programme nécessitant une réaffectation.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Cavaliers / lads / personnel terrain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Exécutent le travail et observent les chevaux. Renseignent notes et rations, signalent les anomalies et les absences.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Lot attribué, heure du repas, observation d’une anomalie, besoin de signaler une absence.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Vétérinaire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Prescrit les traitements et réalise les examens. Documente soins, retraits et vaccinations dans le dossier sanitaire.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Demande d’examen, anomalie signalée, prescription à suivre ou échéance de rappel vaccinal.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Maréchal-ferrant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Intervient sur la ferrure et transmet ses observations. Coordonne les passages avec le travail et les courses.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Passage prévu, anomalie de ferrure signalée ou course à préparer.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Administration / RH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Suit présences, pointages, congés et planning humain. Export paie évoqué. Rôle en facturation à cadrer séparément.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Arrivée ou départ d’un cheval, pointage ou demande de congé, clôture de paie ou facturation.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Chargé des engagements / courses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Suit les engagements et les alertes de conformité. Coordonne le dossier de course avec jockey et transporteur.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Échéance d’engagement, choix d’une course, alerte sanitaire ou changement de jockey / transport.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Jockey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Intervient dans la course et reçoit les consignes utiles. Périmètre distinct de celui des cavaliers à confirmer.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Monte confirmée, réception des consignes et départ de course.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Transporteur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Prend en charge les déplacements, en lien avec l’écurie. Partage les informations utiles aux arrivées et départs.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Demande de déplacement confirmée, arrivée ou départ planifié, changement d’horaire.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Propriétaire / représentant d’écurie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Reçoit les notifications et les nouvelles des chevaux. Échange avec l’écurie sur leur suivi et leur facturation.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8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Notification de mouvement, nouvelle du cheval, message de l’écurie ou facture reçue.</a:t>
                      </a:r>
                    </a:p>
                  </a:txBody>
                  <a:tcPr marL="82296" marR="82296" marT="32004" marB="32004" anchor="ctr">
                    <a:lnL w="4500">
                      <a:solidFill>
                        <a:srgbClr val="D1DEE5"/>
                      </a:solidFill>
                    </a:lnL>
                    <a:lnR w="4500">
                      <a:solidFill>
                        <a:srgbClr val="D1DEE5"/>
                      </a:solidFill>
                    </a:lnR>
                    <a:lnT w="4500">
                      <a:solidFill>
                        <a:srgbClr val="D1DEE5"/>
                      </a:solidFill>
                    </a:lnT>
                    <a:lnB w="4500">
                      <a:solidFill>
                        <a:srgbClr val="D1DE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>
              <a:defRPr sz="2900" b="1">
                <a:solidFill>
                  <a:srgbClr val="0E2841"/>
                </a:solidFill>
                <a:latin typeface="Aptos"/>
              </a:defRPr>
            </a:pPr>
            <a:r>
              <a:t>RACI des rôles et responsabilités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32104"/>
            <a:ext cx="11338560" cy="203133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>
              <a:defRPr sz="1320" b="0">
                <a:solidFill>
                  <a:srgbClr val="536570"/>
                </a:solidFill>
                <a:latin typeface="Aptos"/>
              </a:defRPr>
            </a:pPr>
            <a:r>
              <a:rPr lang="fr-FR"/>
              <a:t>Réalisation des lots par l’assistant entraîneur</a:t>
            </a:r>
            <a:r>
              <a:t>. </a:t>
            </a:r>
            <a:r>
              <a:rPr lang="fr-FR"/>
              <a:t>Les </a:t>
            </a:r>
            <a:r>
              <a:t>A</a:t>
            </a:r>
            <a:r>
              <a:rPr lang="fr-FR"/>
              <a:t> et autres répartitions restent proposés, non validés </a:t>
            </a:r>
            <a:r>
              <a:t>par </a:t>
            </a:r>
            <a:r>
              <a:rPr lang="fr-FR"/>
              <a:t>la réunion</a:t>
            </a:r>
            <a: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91132"/>
              </p:ext>
            </p:extLst>
          </p:nvPr>
        </p:nvGraphicFramePr>
        <p:xfrm>
          <a:off x="420624" y="1353312"/>
          <a:ext cx="11338560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Activités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Entraîneur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Direction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fr-FR"/>
                        <a:t>Assistant /
relais cour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Cavaliers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Vété-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rinaire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Maréchal-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ferrant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Admin.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RH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Chargé des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engag.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Jockey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Trans-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porteur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Proprié-</a:t>
                      </a:r>
                    </a:p>
                    <a:p>
                      <a:pPr algn="ctr"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taire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Arbitrer les priorités et alertes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Tenir l’effectif et les mouvements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Définir le programme de travail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Préparer les lots et affectations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Réaliser le travail et saisir les retours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Suivre les rations et observations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Prescrire, examiner et vacciner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Réaliser et tracer la ferrure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Contrôler retraits et rappels sanitaires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Valider et gérer les engagements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Organiser et réaliser le transport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Courir et transmettre le retour de course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Gérer présences, congés et planning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Diffuser le suivi aux propriétaires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Contrôler et émettre les factures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14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Administrer les accès et référentiels</a:t>
                      </a:r>
                    </a:p>
                  </a:txBody>
                  <a:tcPr marL="73152" marR="3657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1">
                          <a:solidFill>
                            <a:srgbClr val="156082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D6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536570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1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 marL="13716" marR="13716" marT="0" marB="0" anchor="ctr">
                    <a:lnL w="4200">
                      <a:solidFill>
                        <a:srgbClr val="D3DFE5"/>
                      </a:solidFill>
                    </a:lnL>
                    <a:lnR w="4200">
                      <a:solidFill>
                        <a:srgbClr val="D3DFE5"/>
                      </a:solidFill>
                    </a:lnR>
                    <a:lnT w="4200">
                      <a:solidFill>
                        <a:srgbClr val="D3DFE5"/>
                      </a:solidFill>
                    </a:lnT>
                    <a:lnB w="4200">
                      <a:solidFill>
                        <a:srgbClr val="D3DF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6099048"/>
            <a:ext cx="11155680" cy="24688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>
              <a:defRPr sz="1120" b="0">
                <a:solidFill>
                  <a:srgbClr val="0E2841"/>
                </a:solidFill>
                <a:latin typeface="Aptos"/>
              </a:defRPr>
            </a:pPr>
            <a:r>
              <a:t>R  Réalise     A  Porte la responsabilité finale et valide     C  Consulté     I  Informé     A/R  Cumule les deux     Case vide  Hors 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365760" cy="15388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43000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0E2841"/>
                </a:solidFill>
                <a:latin typeface="Aptos"/>
              </a:defRPr>
            </a:pPr>
            <a:r>
              <a:t>Liens entre personas et objets de 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50392"/>
            <a:ext cx="11338560" cy="20313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320" b="0">
                <a:solidFill>
                  <a:srgbClr val="536570"/>
                </a:solidFill>
                <a:latin typeface="Aptos"/>
              </a:defRPr>
            </a:pPr>
            <a:r>
              <a:rPr lang="fr-FR"/>
              <a:t>Briefing du 05/10 : affectations par l’assistant entraîneur</a:t>
            </a:r>
            <a:r>
              <a:t>. </a:t>
            </a:r>
            <a:r>
              <a:rPr lang="fr-FR"/>
              <a:t>Planning humain distinct du programme du cheval</a:t>
            </a:r>
            <a:r>
              <a:t>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489704" y="1993391"/>
            <a:ext cx="649224" cy="1298449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050024" y="1993391"/>
            <a:ext cx="649224" cy="1298449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84831" y="1993391"/>
            <a:ext cx="612649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528048" y="1993391"/>
            <a:ext cx="603504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89704" y="2642615"/>
            <a:ext cx="649224" cy="731521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050024" y="2642615"/>
            <a:ext cx="649224" cy="731521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84831" y="2642615"/>
            <a:ext cx="612649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28048" y="2642615"/>
            <a:ext cx="603504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89704" y="3291839"/>
            <a:ext cx="649224" cy="164593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50024" y="3291839"/>
            <a:ext cx="649224" cy="164593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84831" y="3291839"/>
            <a:ext cx="612649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528048" y="3291839"/>
            <a:ext cx="603504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9704" y="3538728"/>
            <a:ext cx="649224" cy="402335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50024" y="3538728"/>
            <a:ext cx="649224" cy="402335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84831" y="3941063"/>
            <a:ext cx="612649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528048" y="3941063"/>
            <a:ext cx="603504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489704" y="3621024"/>
            <a:ext cx="649224" cy="969264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50024" y="3621024"/>
            <a:ext cx="649224" cy="969264"/>
          </a:xfrm>
          <a:prstGeom prst="line">
            <a:avLst/>
          </a:prstGeom>
          <a:ln w="13970">
            <a:solidFill>
              <a:srgbClr val="8A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84831" y="4590288"/>
            <a:ext cx="612649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528048" y="4590288"/>
            <a:ext cx="603504" cy="0"/>
          </a:xfrm>
          <a:prstGeom prst="line">
            <a:avLst/>
          </a:prstGeom>
          <a:ln w="13970">
            <a:solidFill>
              <a:srgbClr val="1560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1755648"/>
            <a:ext cx="1645920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Entraîneur /</a:t>
            </a:r>
            <a:br/>
            <a:r>
              <a:t>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1755648"/>
            <a:ext cx="1792224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Programme de travail</a:t>
            </a:r>
            <a:br/>
            <a:r>
              <a:t>Priorités et alertes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3" y="1581912"/>
            <a:ext cx="64922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90" b="0">
                <a:solidFill>
                  <a:srgbClr val="536570"/>
                </a:solidFill>
                <a:latin typeface="Aptos"/>
              </a:defRPr>
            </a:pPr>
            <a:r>
              <a:t>définit / arbitre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2404872"/>
            <a:ext cx="1645920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fr-FR"/>
              <a:t>Assistant entraîneur /
relais </a:t>
            </a:r>
            <a:r>
              <a:t>de cour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2404872"/>
            <a:ext cx="1792224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rPr lang="fr-FR"/>
              <a:t>Rotations </a:t>
            </a:r>
            <a:r>
              <a:t>du matin</a:t>
            </a:r>
            <a:r>
              <a:rPr lang="fr-FR"/>
              <a:t>
</a:t>
            </a:r>
            <a:r>
              <a:t>Affectations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543" y="2231136"/>
            <a:ext cx="64922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90" b="0">
                <a:solidFill>
                  <a:srgbClr val="536570"/>
                </a:solidFill>
                <a:latin typeface="Aptos"/>
              </a:defRPr>
            </a:pPr>
            <a:r>
              <a:t>organise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3054096"/>
            <a:ext cx="1645920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Cavaliers / lads</a:t>
            </a:r>
            <a:br/>
            <a:r>
              <a:t>Personnel terrain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054096"/>
            <a:ext cx="1792224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Séances, rations</a:t>
            </a:r>
            <a:br/>
            <a:r>
              <a:t>Observations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2880360"/>
            <a:ext cx="64922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90" b="0">
                <a:solidFill>
                  <a:srgbClr val="536570"/>
                </a:solidFill>
                <a:latin typeface="Aptos"/>
              </a:defRPr>
            </a:pPr>
            <a:r>
              <a:t>réalise / saisit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3703320"/>
            <a:ext cx="1645920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Vétérinaire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703320"/>
            <a:ext cx="1792224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Traitements et examens</a:t>
            </a:r>
            <a:br/>
            <a:r>
              <a:t>Vaccins, retraits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6543" y="3529584"/>
            <a:ext cx="64922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90" b="0">
                <a:solidFill>
                  <a:srgbClr val="536570"/>
                </a:solidFill>
                <a:latin typeface="Aptos"/>
              </a:defRPr>
            </a:pPr>
            <a:r>
              <a:t>prescrit / trace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4352544"/>
            <a:ext cx="1645920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Maréchal-ferrant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352544"/>
            <a:ext cx="1792224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Ferrure</a:t>
            </a:r>
            <a:br/>
            <a:r>
              <a:t>Interventions et suivi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66543" y="4178807"/>
            <a:ext cx="649224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90" b="0">
                <a:solidFill>
                  <a:srgbClr val="536570"/>
                </a:solidFill>
                <a:latin typeface="Aptos"/>
              </a:defRPr>
            </a:pPr>
            <a:r>
              <a:t>réalise / trace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1755648"/>
            <a:ext cx="1828800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Planning RH, effectif</a:t>
            </a:r>
            <a:br/>
            <a:r>
              <a:t>Registres et factures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31552" y="1755648"/>
            <a:ext cx="1627632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Administration</a:t>
            </a:r>
            <a:br/>
            <a:r>
              <a:t>RH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1581912"/>
            <a:ext cx="64008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536570"/>
                </a:solidFill>
                <a:latin typeface="Aptos"/>
              </a:defRPr>
            </a:pPr>
            <a:r>
              <a:t>tient / prépare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248" y="2404872"/>
            <a:ext cx="1828800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Engagements</a:t>
            </a:r>
            <a:br/>
            <a:r>
              <a:t>Dossier de course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31552" y="2404872"/>
            <a:ext cx="1627632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Chargé des</a:t>
            </a:r>
            <a:br/>
            <a:r>
              <a:t>engagements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2231136"/>
            <a:ext cx="64008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536570"/>
                </a:solidFill>
                <a:latin typeface="Aptos"/>
              </a:defRPr>
            </a:pPr>
            <a:r>
              <a:t>suit / coordonne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9248" y="3054096"/>
            <a:ext cx="1828800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Course et monte</a:t>
            </a:r>
            <a:br/>
            <a:r>
              <a:t>Consignes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31552" y="3054096"/>
            <a:ext cx="1627632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Jockey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2880360"/>
            <a:ext cx="64008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536570"/>
                </a:solidFill>
                <a:latin typeface="Aptos"/>
              </a:defRPr>
            </a:pPr>
            <a:r>
              <a:t>réalise / reçoit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99248" y="3703320"/>
            <a:ext cx="1828800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Déplacements</a:t>
            </a:r>
            <a:br/>
            <a:r>
              <a:t>Arrivées et départs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31552" y="3703320"/>
            <a:ext cx="1627632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Transporteur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3529584"/>
            <a:ext cx="64008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536570"/>
                </a:solidFill>
                <a:latin typeface="Aptos"/>
              </a:defRPr>
            </a:pPr>
            <a:r>
              <a:t>prend en charge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4352544"/>
            <a:ext cx="1828800" cy="475488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30" b="0">
                <a:solidFill>
                  <a:srgbClr val="0E2841"/>
                </a:solidFill>
                <a:latin typeface="Aptos"/>
              </a:defRPr>
            </a:pPr>
            <a:r>
              <a:t>Nouvelles, notifications</a:t>
            </a:r>
            <a:br/>
            <a:r>
              <a:t>Suivi et facturation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31552" y="4352544"/>
            <a:ext cx="1627632" cy="475488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Propriétaire /</a:t>
            </a:r>
            <a:br/>
            <a:r>
              <a:t>représentant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178807"/>
            <a:ext cx="64008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880" b="0">
                <a:solidFill>
                  <a:srgbClr val="536570"/>
                </a:solidFill>
                <a:latin typeface="Aptos"/>
              </a:defRPr>
            </a:pPr>
            <a:r>
              <a:t>reçoit / échange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38928" y="3081528"/>
            <a:ext cx="1911095" cy="950976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889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CHEVAUX</a:t>
            </a:r>
            <a:br/>
            <a:r>
              <a:t>Dossier individuel</a:t>
            </a:r>
            <a:br/>
            <a:r>
              <a:t>Historique partagé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2048256"/>
            <a:ext cx="1819656" cy="5486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1140" b="0">
                <a:solidFill>
                  <a:srgbClr val="536570"/>
                </a:solidFill>
                <a:latin typeface="Aptos"/>
              </a:defRPr>
            </a:pPr>
            <a:r>
              <a:t>Objets liés au cheval</a:t>
            </a:r>
          </a:p>
          <a:p>
            <a:pPr algn="ctr">
              <a:spcAft>
                <a:spcPts val="0"/>
              </a:spcAft>
              <a:defRPr sz="1140" b="0">
                <a:solidFill>
                  <a:srgbClr val="536570"/>
                </a:solidFill>
                <a:latin typeface="Aptos"/>
              </a:defRPr>
            </a:pPr>
            <a:r>
              <a:t>ou à ses affectations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1325880"/>
            <a:ext cx="182880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156082"/>
                </a:solidFill>
                <a:latin typeface="Aptos"/>
              </a:defRPr>
            </a:pPr>
            <a:r>
              <a:t>PERSONAS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1325880"/>
            <a:ext cx="182880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156082"/>
                </a:solidFill>
                <a:latin typeface="Aptos"/>
              </a:defRPr>
            </a:pPr>
            <a:r>
              <a:t>OBJETS DE GESTION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99248" y="1325880"/>
            <a:ext cx="192024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156082"/>
                </a:solidFill>
                <a:latin typeface="Aptos"/>
              </a:defRPr>
            </a:pPr>
            <a:r>
              <a:t>OBJETS DE GESTION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1552" y="1325880"/>
            <a:ext cx="164592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156082"/>
                </a:solidFill>
                <a:latin typeface="Aptos"/>
              </a:defRPr>
            </a:pPr>
            <a:r>
              <a:t>PERSONAS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5074920"/>
            <a:ext cx="1097280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0E2841"/>
                </a:solidFill>
                <a:latin typeface="Aptos"/>
              </a:defRPr>
            </a:pPr>
            <a:r>
              <a:t>Dépendances opérationnelles clés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" y="5504688"/>
            <a:ext cx="1389888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40" b="0">
                <a:solidFill>
                  <a:srgbClr val="0E2841"/>
                </a:solidFill>
                <a:latin typeface="Aptos"/>
              </a:defRPr>
            </a:pPr>
            <a:r>
              <a:t>Planning RH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23744" y="5504688"/>
            <a:ext cx="1508760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20" b="0">
                <a:solidFill>
                  <a:srgbClr val="0E2841"/>
                </a:solidFill>
                <a:latin typeface="Aptos"/>
              </a:defRPr>
            </a:pPr>
            <a:r>
              <a:t>Lots et affectations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828800" y="5705856"/>
            <a:ext cx="694944" cy="0"/>
          </a:xfrm>
          <a:prstGeom prst="line">
            <a:avLst/>
          </a:prstGeom>
          <a:ln w="13970">
            <a:solidFill>
              <a:srgbClr val="15608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810512" y="5303520"/>
            <a:ext cx="73152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536570"/>
                </a:solidFill>
                <a:latin typeface="Aptos"/>
              </a:defRPr>
            </a:pPr>
            <a:r>
              <a:t>disponibilités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88536" y="5504688"/>
            <a:ext cx="1389888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40" b="0">
                <a:solidFill>
                  <a:srgbClr val="0E2841"/>
                </a:solidFill>
                <a:latin typeface="Aptos"/>
              </a:defRPr>
            </a:pPr>
            <a:r>
              <a:t>Soins et retraits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7" y="5504688"/>
            <a:ext cx="1508760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20" b="0">
                <a:solidFill>
                  <a:srgbClr val="0E2841"/>
                </a:solidFill>
                <a:latin typeface="Aptos"/>
              </a:defRPr>
            </a:pPr>
            <a:r>
              <a:t>Engagements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78423" y="5705856"/>
            <a:ext cx="694944" cy="0"/>
          </a:xfrm>
          <a:prstGeom prst="line">
            <a:avLst/>
          </a:prstGeom>
          <a:ln w="13970">
            <a:solidFill>
              <a:srgbClr val="15608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0136" y="5303520"/>
            <a:ext cx="73152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536570"/>
                </a:solidFill>
                <a:latin typeface="Aptos"/>
              </a:defRPr>
            </a:pPr>
            <a:r>
              <a:t>conformité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38160" y="5504688"/>
            <a:ext cx="1389888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40" b="0">
                <a:solidFill>
                  <a:srgbClr val="0E2841"/>
                </a:solidFill>
                <a:latin typeface="Aptos"/>
              </a:defRPr>
            </a:pPr>
            <a:r>
              <a:t>Engagements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22992" y="5504688"/>
            <a:ext cx="1508760" cy="402336"/>
          </a:xfrm>
          <a:prstGeom prst="rect">
            <a:avLst/>
          </a:prstGeom>
          <a:solidFill>
            <a:srgbClr val="EDF4F7"/>
          </a:solidFill>
          <a:ln w="889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" tIns="13716" rIns="50292" bIns="13716" rtlCol="0" anchor="ctr"/>
          <a:lstStyle/>
          <a:p>
            <a:pPr algn="ctr">
              <a:defRPr sz="1120" b="0">
                <a:solidFill>
                  <a:srgbClr val="0E2841"/>
                </a:solidFill>
                <a:latin typeface="Aptos"/>
              </a:defRPr>
            </a:pPr>
            <a:r>
              <a:t>Déplacements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528048" y="5705856"/>
            <a:ext cx="694944" cy="0"/>
          </a:xfrm>
          <a:prstGeom prst="line">
            <a:avLst/>
          </a:prstGeom>
          <a:ln w="13970">
            <a:solidFill>
              <a:srgbClr val="15608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509760" y="5303520"/>
            <a:ext cx="73152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536570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" y="6080760"/>
            <a:ext cx="11064240" cy="2377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80" b="0">
                <a:solidFill>
                  <a:srgbClr val="536570"/>
                </a:solidFill>
                <a:latin typeface="Aptos"/>
              </a:defRPr>
            </a:pPr>
            <a:r>
              <a:t>Bleu : persona. Clair : objet de gestion. Flèche : interaction. Trait : rattachement au dossier. Pointillés : dépendance.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83696" y="6455664"/>
            <a:ext cx="457200" cy="153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référentiels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unifié proposé / 3 tables. Tous les champs de ce domaine figurent ci-dessous.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34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63435"/>
              </p:ext>
            </p:extLst>
          </p:nvPr>
        </p:nvGraphicFramePr>
        <p:xfrm>
          <a:off x="438912" y="1399032"/>
          <a:ext cx="11301984" cy="397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18759054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fiche par cheval suivi par l’écurie. Elle contient son identité, son numéro SIRE et son statut.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sire, nom, sexe, date_naissance, statut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40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ACTEUR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Une personne ou organisation liée à l’écurie : entraîneur, assistant, responsable de cour, cavalier/lad, vétérinaire, dentiste, maréchal-ferrant, propriétaire, jockey, transporteur, administration/RH ou chargé des engagements. Les intervenants internes et externes sont des acteurs. Une fiche peut cumuler des rôles sans être salariée ni disposer d’un compte.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nom, type_acteur, roles_metier, email, telephone, adresse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3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ECURIE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structure d’exploitation gérée dans l’application. Elle rattache les lieux, les factures et le périmètre des habilitations.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nom, adresse, statut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6010"/>
            <a:ext cx="1078992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36570"/>
                </a:solidFill>
                <a:latin typeface="Aptos"/>
              </a:defRPr>
            </a:pPr>
            <a:r>
              <a:rPr dirty="0"/>
              <a:t>ACTEUR </a:t>
            </a:r>
            <a:r>
              <a:rPr dirty="0" err="1"/>
              <a:t>représente</a:t>
            </a:r>
            <a:r>
              <a:rPr dirty="0"/>
              <a:t> les </a:t>
            </a:r>
            <a:r>
              <a:rPr dirty="0" err="1"/>
              <a:t>personnes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organisations</a:t>
            </a:r>
            <a:r>
              <a:rPr dirty="0"/>
              <a:t>. Son </a:t>
            </a:r>
            <a:r>
              <a:rPr dirty="0" err="1"/>
              <a:t>rôle</a:t>
            </a:r>
            <a:r>
              <a:rPr dirty="0"/>
              <a:t> métier est distinct des </a:t>
            </a:r>
            <a:r>
              <a:rPr dirty="0" err="1"/>
              <a:t>rôles</a:t>
            </a:r>
            <a:r>
              <a:rPr dirty="0"/>
              <a:t> </a:t>
            </a:r>
            <a:r>
              <a:rPr dirty="0" err="1"/>
              <a:t>applicatifs</a:t>
            </a:r>
            <a:r>
              <a:rPr dirty="0"/>
              <a:t>. Les </a:t>
            </a:r>
            <a:r>
              <a:rPr dirty="0" err="1"/>
              <a:t>cours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des </a:t>
            </a:r>
            <a:r>
              <a:rPr dirty="0" err="1"/>
              <a:t>lieux</a:t>
            </a:r>
            <a:r>
              <a:rPr dirty="0"/>
              <a:t>, les courses </a:t>
            </a:r>
            <a:r>
              <a:rPr dirty="0" err="1"/>
              <a:t>sont</a:t>
            </a:r>
            <a:r>
              <a:rPr dirty="0"/>
              <a:t> des </a:t>
            </a:r>
            <a:r>
              <a:rPr dirty="0" err="1"/>
              <a:t>compétitions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effectif et localisation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unifié proposé / 4 tables. Tous les champs de ce domaine figurent ci-dessous.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35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053687"/>
              </p:ext>
            </p:extLst>
          </p:nvPr>
        </p:nvGraphicFramePr>
        <p:xfrm>
          <a:off x="438912" y="1399032"/>
          <a:ext cx="11301984" cy="3558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916112244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LIEU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espace physique : site, cour, bâtiment ou box. Il appartient à une écurie et peut dépendre d’un autre lieu.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ecurie_id, lieu_parent_id?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libelle, type_lieu, capacite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SEJOUR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période de présence d’un cheval dans un lieu, avec dates de début et de fin et motif du séjour.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lieu_id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date_debut, date_fin, motif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MOUVEMENT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entrée, sortie ou un transfert de cheval. Il précise les lieux, la date, le transporteur éventuel et la référence du bon.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lieu_depart_id?, lieu_arrivee_id?, transporteur_id?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sens, provenance_texte, destination_texte, reference_bon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DETENTION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lien de propriété entre un cheval et un acteur, avec période de validité et quote-part en cas de copropriété.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proprietaire_id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date_debut, date_fin, quote_part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59042"/>
            <a:ext cx="1078992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36570"/>
                </a:solidFill>
                <a:latin typeface="Aptos"/>
              </a:defRPr>
            </a:pPr>
            <a:r>
              <a:t>DETENTION porte la propriété et ses dates. LIEU décrit les cours et autres localisations. MOUVEMENT distingue les lieux de départ et d’arrivée.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santé et 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</a:t>
            </a:r>
            <a:r>
              <a:rPr lang="fr-FR"/>
              <a:t>unifié </a:t>
            </a:r>
            <a:r>
              <a:t>proposé / </a:t>
            </a:r>
            <a:r>
              <a:rPr lang="fr-FR"/>
              <a:t>8 </a:t>
            </a:r>
            <a:r>
              <a:t>tables. </a:t>
            </a:r>
            <a:r>
              <a:rPr lang="fr-FR"/>
              <a:t>Tous </a:t>
            </a:r>
            <a:r>
              <a:t>les </a:t>
            </a:r>
            <a:r>
              <a:rPr lang="fr-FR"/>
              <a:t>champs de ce domaine figurent ci-dessous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36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874460"/>
              </p:ext>
            </p:extLst>
          </p:nvPr>
        </p:nvGraphicFramePr>
        <p:xfrm>
          <a:off x="438912" y="1399032"/>
          <a:ext cx="11301984" cy="4828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98276765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PRODUIT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référence de médicament, vaccin ou autre produit de santé.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nom, categorie, unite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ACTE_SANTE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Un soin, examen, vaccin ou acte de ferrure, avec intervenant et suivi sanitaire.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cheval_id, intervenant_id, certificateur_id?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date_heure, type_acte, soin, delai_retrait_jours, debut_retrait, fin_retrait, statut_certification, date_certification, type_ferrure, observations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PRESCRIPTION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produit prescrit pour un cheval, avec posologie, durée et ordonnance.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prescripteur_id, produit_id, ordonnance_id?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date_prescription, posologie, duree_jours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EXAMEN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détail clinique d’un acte : membre, boiterie et protocole recommandé.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acte_id!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membre, score_boiterie, sensibilite, protocole_recommande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VACCINATION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vaccin utilisé pour un acte et la date du prochain rappel.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acte_id!, vaccin_id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date_prochain_rappel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>
                      <a:solidFill>
                        <a:srgbClr val="C4D6DF"/>
                      </a:solidFill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ADMINISTRATION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prise effective de produit : date, dose et voie lors d’un acte.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acte_id, produit_id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dose, unite, voie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>
                      <a:solidFill>
                        <a:srgbClr val="C4D6DF"/>
                      </a:solidFill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ACTE_PRESCRIPTION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lien entre un acte réalisé et la prescription suivie.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acte_id, prescription_id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56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ACTE_DOCUMENT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lien d’un acte à un justificatif : certificat, photo ou compte rendu.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acte_id, document_id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terrain et alimentation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unifié proposé / 4 tables. Tous les champs de ce domaine figurent ci-dessous.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37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08033"/>
              </p:ext>
            </p:extLst>
          </p:nvPr>
        </p:nvGraphicFramePr>
        <p:xfrm>
          <a:off x="438912" y="1399032"/>
          <a:ext cx="11301984" cy="3646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135822123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LOT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Une rotation d’entraînement du matin. L’assistant entraîneur y affecte chevaux et cavaliers, puis diffuse le programme aux cours.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lieu_id, responsable_id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date, heure, libelle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SEANCE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travail d’un cheval dans un lot, avec exercice, programme prévu, travail réalisé et commentaire.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lot_id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exercice, travail_prevu, travail_realise, commentaire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AFFECTATION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L’attribution d’un acteur à une séance, avec sa fonction et ses consignes. Exemple : cavalier chargé d’un cheval.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seance_id, acteur_id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fonction, consigne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observation de repas pour un cheval : repas concerné, part consommée et remarque, avec date et auteur.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auteur_id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repas, part_consommee, remarque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59042"/>
            <a:ext cx="10789920" cy="21544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536570"/>
                </a:solidFill>
                <a:latin typeface="Aptos"/>
              </a:defRPr>
            </a:pPr>
            <a:r>
              <a:t>LOT </a:t>
            </a:r>
            <a:r>
              <a:rPr lang="fr-FR"/>
              <a:t>désigne un passage d’entraînement, pas un lieu. LIEU décrit la </a:t>
            </a:r>
            <a:r>
              <a:t>cour. </a:t>
            </a:r>
            <a:r>
              <a:rPr lang="fr-FR"/>
              <a:t>La réaffectation doit rester possible en cas d’absence</a:t>
            </a:r>
            <a: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courses et déplacements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</a:t>
            </a:r>
            <a:r>
              <a:rPr lang="fr-FR"/>
              <a:t>unifié </a:t>
            </a:r>
            <a:r>
              <a:t>proposé / </a:t>
            </a:r>
            <a:r>
              <a:rPr lang="fr-FR"/>
              <a:t>6 </a:t>
            </a:r>
            <a:r>
              <a:t>tables. </a:t>
            </a:r>
            <a:r>
              <a:rPr lang="fr-FR"/>
              <a:t>Tous </a:t>
            </a:r>
            <a:r>
              <a:t>les </a:t>
            </a:r>
            <a:r>
              <a:rPr lang="fr-FR"/>
              <a:t>champs de ce domaine figurent ci-dessous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38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16167"/>
              </p:ext>
            </p:extLst>
          </p:nvPr>
        </p:nvGraphicFramePr>
        <p:xfrm>
          <a:off x="438912" y="1399032"/>
          <a:ext cx="11301984" cy="4828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62245828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compétition hippique identifiée par son édition, sa date et son hippodrome. À distinguer d’une cour d’écurie, qui est un LIEU.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nom, edition, hippodrome, pays, distance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ENGAGEMENT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L’inscription d’un cheval à une course, avec statut, coût, contrôle et jockey éventuel.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course_id, jockey_id?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rPr lang="fr-FR"/>
                        <a:t>date_engagement, statut, cout, resultat_controle, date_controle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RESULTAT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résultat d’un engagement en course : rang, temps et commentaire. Au plus un résultat par engagement.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engagement_id!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rang, temps, commentaire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TRANSPORT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trajet organisé avec un transporteur, des lieux, des dates et des consignes. Il peut concerner plusieurs chevaux.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transporteur_id, lieu_depart_id?, lieu_arrivee_id?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date_depart, date_arrivee, statut, consignes</a:t>
                      </a:r>
                    </a:p>
                  </a:txBody>
                  <a:tcPr marL="77724" marR="77724" marT="41148" marB="41148" anchor="ctr">
                    <a:lnL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00">
                      <a:solidFill>
                        <a:srgbClr val="C4D6DF"/>
                      </a:solidFill>
                    </a:lnR>
                    <a:lnT w="4200" cap="flat" cmpd="sng" algn="ctr">
                      <a:solidFill>
                        <a:srgbClr val="C4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PRISE_EN_CHARGE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La présence d’un cheval dans un transport, avec lieux et heures de prise en charge et de dépose.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transport_id, lieu_prise_id?, lieu_depose_id?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heure_prise_en_charge, heure_depose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ENGAGEMENT_TRANSPORT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association entre un engagement et un trajet, pour rattacher le déplacement à la participation en course.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engagement_id, transport_id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ressources humaines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unifié proposé / 5 tables. Tous les champs de ce domaine figurent ci-dessous.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39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057562"/>
              </p:ext>
            </p:extLst>
          </p:nvPr>
        </p:nvGraphicFramePr>
        <p:xfrm>
          <a:off x="438912" y="1399032"/>
          <a:ext cx="11301984" cy="4266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633090206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EMPLOYE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dossier RH d’un acteur salarié : matricule, poste, contrat et dates d’emploi. Les prestataires externes restent des ACTEUR sans cette fiche.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acteur_id!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matricule, poste, contrat, date_entree, date_sortie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CRENEAU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plage horaire de travail prévue, avec activité et lieu éventuel. Les affectations de salariés forment le planning.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lieu_id?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debut, fin, activite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EMPLOYE_CRENEAU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affectation d’un salarié à un créneau du planning. Un créneau peut accueillir plusieurs salariés.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employe_id, creneau_id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POINTAGE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présence réelle d’un salarié, avec heures d’entrée et de sortie, durée et éventuelle correction.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employe_id, correcteur_id?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heure_entree, heure_sortie, duree, motif_correction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ABSENCE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période d’indisponibilité d’un salarié : congé ou autre absence, avec type et circuit de validation.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employe_id, validateur_id?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debut, fin, type_absence, statut, date_validation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historique et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unifié proposé / 5 tables. Tous les champs de ce domaine figurent ci-dessous.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40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11139"/>
              </p:ext>
            </p:extLst>
          </p:nvPr>
        </p:nvGraphicFramePr>
        <p:xfrm>
          <a:off x="438912" y="1399032"/>
          <a:ext cx="11301984" cy="4266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951802452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EVENEMENT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entrée datée de l’historique d’un cheval, avec auteur, texte, origine et statut de validation.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auteur_id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type_evenement, texte, source, statut_validation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DOCUMENT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La référence d’un fichier ou d’une pièce, avec type, date, version et adresse de stockage (URI).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type_document, date_document, uri, version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EVENEMENT_DOCUMENT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association entre une entrée d’historique et un document joint, comme une photo ou un compte rendu.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evenement_id, document_id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7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NOTIFICATION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message ou une alerte à diffuser, avec objet et priorité. Il peut se rattacher à un événement.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evenement_id?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date_creation, objet, priorite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50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RECEPTION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suivi d’une notification pour un destinataire donné : envoi, lecture et statut. Un destinataire est un ACTEUR.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notification_id, destinataire_id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date_envoi, date_lecture, statut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facturation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19543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rPr lang="fr-FR"/>
              <a:t>Extension proposée </a:t>
            </a:r>
            <a:r>
              <a:t>/ 6 tables. </a:t>
            </a:r>
            <a:r>
              <a:rPr lang="fr-FR"/>
              <a:t>Facturation absente </a:t>
            </a:r>
            <a:r>
              <a:t>de </a:t>
            </a:r>
            <a:r>
              <a:rPr lang="fr-FR"/>
              <a:t>la maquette présentée en réunion, périmètre et solution à arbitrer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41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902060"/>
              </p:ext>
            </p:extLst>
          </p:nvPr>
        </p:nvGraphicFramePr>
        <p:xfrm>
          <a:off x="438912" y="1399032"/>
          <a:ext cx="11301984" cy="4828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546616232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FACTURE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L’en-tête d’une facture émise par une écurie pour un acteur destinataire : numéro, dates et statut.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ecurie_id, destinataire_id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numero, date_emission, date_echeance, statut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LIGNE_FACTURE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poste facturé, avec libellé, quantité, prix unitaire et taxe. Il appartient à une facture.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facture_id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libelle, quantite, prix_unitaire, taux_taxe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PRESTATION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prestation valorisée pour un cheval, à une date donnée, avec type, montant et justificatif éventuel.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cheval_id, justificatif_id?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date, type_prestation, montant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IMPUTATION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rattachement de tout ou partie d’une prestation à une ligne de facture, avec quantité et montant imputés.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ligne_id, prestation_id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quantite_imputee, montant_impute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REGLEMENT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paiement reçu, avec date, montant, mode et référence. Sa répartition entre factures se fait séparément.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date, montant, mode, reference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AFFECTATION_PAIEMENT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La part d’un règlement affectée à une facture. Elle permet les paiements partiels ou couvrant plusieurs factures.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facture_id, reglement_id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montant_affecte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Dictionnaire des tables : accès, interfaces et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19543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Modèle </a:t>
            </a:r>
            <a:r>
              <a:rPr lang="fr-FR"/>
              <a:t>technique </a:t>
            </a:r>
            <a:r>
              <a:t>proposé / 8 tables. </a:t>
            </a:r>
            <a:r>
              <a:rPr lang="fr-FR"/>
              <a:t>IA, OCR, synchronisation et intégrations nécessitent encore un cadrage technique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42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786982"/>
              </p:ext>
            </p:extLst>
          </p:nvPr>
        </p:nvGraphicFramePr>
        <p:xfrm>
          <a:off x="438912" y="1399032"/>
          <a:ext cx="11301984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630271036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 et clé primaire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 / contenu attendu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Clés étrangères [FK]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2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Autres champs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COMPTE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L’accès applicatif d’un acteur. Un ACTEUR peut exister sans compte.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acteur_id!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login, etat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profil de droits applicatifs, distinct du métier de l’ACTEUR.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libelle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HABILITATION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rôle attribué à un compte pour une écurie donnée.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compte_id, role_id, ecurie_id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PERMISSION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droit sur une ressource : consulter, créer ou modifier.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code, libelle, ressource, action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ROLE_PERMISSION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Le lien entre un rôle applicatif et chacun de ses droits.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role_id, permission_id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Aucun champ métier supplémentaire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ECHANGE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La trace d’un import, export ou échange avec un système externe.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initiateur_id?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source, date_heure, sens, etat, anomalies, correspondances_identifiants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REQUETE_IA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Une question à l’assistant IA, avec réponse, contexte et compte auteur.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compte_id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date_heure, question, reponse, contexte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ED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ARTICLE_AIDE</a:t>
                      </a:r>
                    </a:p>
                    <a:p>
                      <a:pPr>
                        <a:spcAft>
                          <a:spcPts val="0"/>
                        </a:spcAft>
                        <a:defRPr sz="1150" b="1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id [PK]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Un contenu d’aide avec thème, version et compte auteur.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auteur_id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70" b="0">
                          <a:solidFill>
                            <a:srgbClr val="0E2841"/>
                          </a:solidFill>
                          <a:latin typeface="Aptos"/>
                        </a:defRPr>
                      </a:pPr>
                      <a:r>
                        <a:t>titre, theme, contenu, version</a:t>
                      </a:r>
                    </a:p>
                  </a:txBody>
                  <a:tcPr marL="77724" marR="77724" marT="41148" marB="41148" anchor="ctr">
                    <a:lnL w="4200">
                      <a:solidFill>
                        <a:srgbClr val="C4D6DF"/>
                      </a:solidFill>
                    </a:lnL>
                    <a:lnR w="4200">
                      <a:solidFill>
                        <a:srgbClr val="C4D6DF"/>
                      </a:solidFill>
                    </a:lnR>
                    <a:lnT w="4200">
                      <a:solidFill>
                        <a:srgbClr val="C4D6DF"/>
                      </a:solidFill>
                    </a:lnT>
                    <a:lnB w="4200">
                      <a:solidFill>
                        <a:srgbClr val="C4D6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vue d’ensemble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18466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Base de travail : </a:t>
            </a:r>
            <a:r>
              <a:t>49 tables, 287 champs</a:t>
            </a:r>
            <a:r>
              <a:rPr lang="fr-FR"/>
              <a:t>,</a:t>
            </a:r>
            <a:r>
              <a:t> 80 </a:t>
            </a:r>
            <a:r>
              <a:rPr lang="fr-FR"/>
              <a:t>FK</a:t>
            </a:r>
            <a:r>
              <a:t>. </a:t>
            </a:r>
            <a:r>
              <a:rPr lang="fr-FR"/>
              <a:t>La réunion ne valide ni ce schéma ni le nombre de tables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51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029967" y="1901952"/>
            <a:ext cx="4078225" cy="141732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70448" y="1901952"/>
            <a:ext cx="237744" cy="141732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108192" y="1901952"/>
            <a:ext cx="3602736" cy="141732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029967" y="3319272"/>
            <a:ext cx="4078225" cy="18288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6108192" y="3319272"/>
            <a:ext cx="3602736" cy="18288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29967" y="3319272"/>
            <a:ext cx="4078225" cy="178308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70448" y="3319272"/>
            <a:ext cx="237744" cy="178308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108192" y="3319272"/>
            <a:ext cx="3602736" cy="1783080"/>
          </a:xfrm>
          <a:prstGeom prst="line">
            <a:avLst/>
          </a:prstGeom>
          <a:ln w="12700">
            <a:solidFill>
              <a:srgbClr val="B6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53712" y="2862072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53712" y="2862072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894076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Référentiels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4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3 tables</a:t>
            </a:r>
            <a:r>
              <a:rPr lang="fr-FR"/>
              <a:t>
</a:t>
            </a:r>
            <a:r>
              <a:t>CHEVAL, ACTEUR, ECURIE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3716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3716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14036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Effectif et localisation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17647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4 tables</a:t>
            </a:r>
            <a:r>
              <a:rPr lang="fr-FR"/>
              <a:t>
</a:t>
            </a: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13716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3716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4256" y="14036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Santé et conformité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17647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8 tables</a:t>
            </a:r>
            <a:r>
              <a:rPr lang="fr-FR"/>
              <a:t>
</a:t>
            </a: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13716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74736" y="14036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Terrain et alimentation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17647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4 tables</a:t>
            </a:r>
            <a:r>
              <a:rPr lang="fr-FR"/>
              <a:t>
</a:t>
            </a: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9718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29718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0038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Courses et déplacements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33649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6 tables</a:t>
            </a:r>
            <a:r>
              <a:rPr lang="fr-FR"/>
              <a:t>
</a:t>
            </a: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29718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29718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0038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Ressources humaines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33649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5 tables</a:t>
            </a:r>
            <a:r>
              <a:rPr lang="fr-FR"/>
              <a:t>
</a:t>
            </a: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45720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46040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Historique et communication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49651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5 tables</a:t>
            </a:r>
            <a:r>
              <a:rPr lang="fr-FR"/>
              <a:t>
</a:t>
            </a: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97680" y="45720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97680" y="45720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34256" y="46040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Facturation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2544" y="49651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6 tables</a:t>
            </a:r>
            <a:r>
              <a:rPr lang="fr-FR"/>
              <a:t>
</a:t>
            </a:r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4572000"/>
            <a:ext cx="3108960" cy="1024128"/>
          </a:xfrm>
          <a:prstGeom prst="rect">
            <a:avLst/>
          </a:prstGeom>
          <a:solidFill>
            <a:srgbClr val="EDF4F7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38160" y="4572000"/>
            <a:ext cx="3108960" cy="310896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74736" y="4604004"/>
            <a:ext cx="3035808" cy="246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Accès, interfaces et assistance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965192"/>
            <a:ext cx="2999232" cy="40011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0E2841"/>
                </a:solidFill>
                <a:latin typeface="Aptos"/>
              </a:defRPr>
            </a:pPr>
            <a:r>
              <a:t>8 tables</a:t>
            </a:r>
            <a:r>
              <a:rPr lang="fr-FR"/>
              <a:t>
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907024"/>
            <a:ext cx="11247120" cy="18466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MVP cité </a:t>
            </a:r>
            <a:r>
              <a:t>: </a:t>
            </a:r>
            <a:r>
              <a:rPr lang="fr-FR"/>
              <a:t>localisation/effectif, historique cheval, RH/planning</a:t>
            </a:r>
            <a:r>
              <a:t>. </a:t>
            </a:r>
            <a:r>
              <a:rPr lang="fr-FR"/>
              <a:t>Le modèle complet inclut </a:t>
            </a:r>
            <a:r>
              <a:t>aussi </a:t>
            </a:r>
            <a:r>
              <a:rPr lang="fr-FR"/>
              <a:t>des extensions à cadrer</a:t>
            </a:r>
            <a: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11521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2841"/>
                </a:solidFill>
                <a:latin typeface="Aptos"/>
              </a:defRPr>
            </a:pPr>
            <a:r>
              <a:t>Schéma relationnel complet : toutes les tables et leurs liaisons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21207"/>
            <a:ext cx="113385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570"/>
                </a:solidFill>
                <a:latin typeface="Aptos"/>
              </a:defRPr>
            </a:pPr>
            <a:r>
              <a:t>Modèle proposé / 49 tables / 287 champs / 80 </a:t>
            </a:r>
            <a:r>
              <a:rPr lang="fr-FR"/>
              <a:t>liens. Non validé par le briefing du 05/10. Impacts à instruire en fin de présentation.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 flipH="1">
            <a:off x="3168396" y="1093622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68396" y="1093622"/>
            <a:ext cx="0" cy="1992478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962656" y="3086100"/>
            <a:ext cx="205740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62656" y="3086100"/>
            <a:ext cx="0" cy="9326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921508" y="3095426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168396" y="1155801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68396" y="1031443"/>
            <a:ext cx="0" cy="124358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68396" y="1031443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07408" y="2274798"/>
            <a:ext cx="36575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43983" y="2274798"/>
            <a:ext cx="0" cy="1284504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43983" y="3559302"/>
            <a:ext cx="205741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49724" y="3549243"/>
            <a:ext cx="0" cy="10059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49724" y="3549243"/>
            <a:ext cx="45720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168396" y="2336977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68396" y="2336977"/>
            <a:ext cx="0" cy="8459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147822" y="2345436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47822" y="1028700"/>
            <a:ext cx="0" cy="1316736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47822" y="1028700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68396" y="1028700"/>
            <a:ext cx="0" cy="2743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68396" y="1031443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07408" y="4699330"/>
            <a:ext cx="36575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43983" y="4690872"/>
            <a:ext cx="0" cy="8458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43983" y="4690872"/>
            <a:ext cx="205741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649724" y="3549243"/>
            <a:ext cx="0" cy="1141629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49724" y="3549243"/>
            <a:ext cx="45720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168396" y="4761509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68396" y="4752594"/>
            <a:ext cx="0" cy="8915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68396" y="4752594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188970" y="1028700"/>
            <a:ext cx="0" cy="3723894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168396" y="1028700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68396" y="1028700"/>
            <a:ext cx="0" cy="2743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68396" y="1031443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168396" y="4823688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168396" y="4814316"/>
            <a:ext cx="0" cy="9372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127248" y="4814316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27248" y="1028700"/>
            <a:ext cx="0" cy="3785616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127248" y="1028700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168396" y="1028700"/>
            <a:ext cx="0" cy="2743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68396" y="1031443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168396" y="4885867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68396" y="3393795"/>
            <a:ext cx="0" cy="1492072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7408" y="6129223"/>
            <a:ext cx="36575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43983" y="6129223"/>
            <a:ext cx="0" cy="1829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443983" y="6131052"/>
            <a:ext cx="185167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629150" y="3559302"/>
            <a:ext cx="0" cy="257175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29150" y="3559302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649724" y="3549243"/>
            <a:ext cx="0" cy="10059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649724" y="3549243"/>
            <a:ext cx="45720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168396" y="6191402"/>
            <a:ext cx="41148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168396" y="6191402"/>
            <a:ext cx="0" cy="1372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147822" y="6192774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147822" y="3394710"/>
            <a:ext cx="0" cy="2798064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147822" y="3394710"/>
            <a:ext cx="20574" cy="0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168396" y="3393795"/>
            <a:ext cx="0" cy="915"/>
          </a:xfrm>
          <a:prstGeom prst="line">
            <a:avLst/>
          </a:prstGeom>
          <a:ln w="381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6131052" y="1679752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131052" y="1679752"/>
            <a:ext cx="0" cy="187955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925312" y="3559302"/>
            <a:ext cx="205740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25312" y="3549243"/>
            <a:ext cx="0" cy="10059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6131052" y="1741932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131052" y="1741932"/>
            <a:ext cx="0" cy="6857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464557" y="1748789"/>
            <a:ext cx="1666495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464557" y="1748789"/>
            <a:ext cx="0" cy="1645921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4443983" y="3394710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443983" y="3393795"/>
            <a:ext cx="0" cy="915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131052" y="1804111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131052" y="1804111"/>
            <a:ext cx="0" cy="6401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4485132" y="1810512"/>
            <a:ext cx="1645920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85132" y="1810512"/>
            <a:ext cx="0" cy="158419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4443983" y="3394710"/>
            <a:ext cx="41149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443983" y="3393795"/>
            <a:ext cx="0" cy="915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6131052" y="2887675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131052" y="2880360"/>
            <a:ext cx="0" cy="7315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5925312" y="2880360"/>
            <a:ext cx="205740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25312" y="2880360"/>
            <a:ext cx="0" cy="66888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6131052" y="2949854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131052" y="2942082"/>
            <a:ext cx="0" cy="777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4505706" y="2942082"/>
            <a:ext cx="1625346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505706" y="2942082"/>
            <a:ext cx="0" cy="45262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4443983" y="3394710"/>
            <a:ext cx="61723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443983" y="3393795"/>
            <a:ext cx="0" cy="915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6131052" y="3012033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131052" y="3003803"/>
            <a:ext cx="0" cy="823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131052" y="3003803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151626" y="1028700"/>
            <a:ext cx="0" cy="197510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6131052" y="1028700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131052" y="1028700"/>
            <a:ext cx="0" cy="274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131052" y="103144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379208" y="3074212"/>
            <a:ext cx="48006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427214" y="2633472"/>
            <a:ext cx="0" cy="44074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427214" y="2633472"/>
            <a:ext cx="1687068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14282" y="2461336"/>
            <a:ext cx="0" cy="172136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14282" y="2461336"/>
            <a:ext cx="3886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6131052" y="3722522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131052" y="3722522"/>
            <a:ext cx="0" cy="137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6110478" y="3723894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110478" y="1625345"/>
            <a:ext cx="0" cy="2098549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110478" y="1625345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131052" y="1617573"/>
            <a:ext cx="0" cy="777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131052" y="161757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6131052" y="4433011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131052" y="4423409"/>
            <a:ext cx="0" cy="960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6089904" y="4423409"/>
            <a:ext cx="41148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089904" y="1625345"/>
            <a:ext cx="0" cy="2798064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089904" y="1625345"/>
            <a:ext cx="41148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131052" y="1617573"/>
            <a:ext cx="0" cy="777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131052" y="161757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6131052" y="4495190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131052" y="4485132"/>
            <a:ext cx="0" cy="1005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069330" y="4485132"/>
            <a:ext cx="6172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069330" y="1028700"/>
            <a:ext cx="0" cy="345643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069330" y="1028700"/>
            <a:ext cx="6172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131052" y="1028700"/>
            <a:ext cx="0" cy="274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131052" y="103144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6131052" y="5019141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131052" y="5019141"/>
            <a:ext cx="0" cy="915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6048755" y="5020056"/>
            <a:ext cx="82297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048755" y="1645919"/>
            <a:ext cx="0" cy="3374137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048755" y="1645919"/>
            <a:ext cx="82297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131052" y="1617573"/>
            <a:ext cx="0" cy="28346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131052" y="161757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6131052" y="5081320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131052" y="5081320"/>
            <a:ext cx="0" cy="45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6028181" y="5081778"/>
            <a:ext cx="102871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028181" y="1049274"/>
            <a:ext cx="0" cy="4032504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028181" y="1049274"/>
            <a:ext cx="102871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131052" y="1031443"/>
            <a:ext cx="0" cy="17831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131052" y="103144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6131052" y="5791809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131052" y="5791809"/>
            <a:ext cx="0" cy="10059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6007607" y="5801868"/>
            <a:ext cx="123445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007607" y="1625345"/>
            <a:ext cx="0" cy="417652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007607" y="1625345"/>
            <a:ext cx="123445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131052" y="1617573"/>
            <a:ext cx="0" cy="777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131052" y="161757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6131052" y="5853988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131052" y="5853988"/>
            <a:ext cx="0" cy="960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131052" y="5863590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151626" y="2818638"/>
            <a:ext cx="0" cy="3044952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131052" y="2818638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131052" y="2818638"/>
            <a:ext cx="0" cy="685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131052" y="2825496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6131052" y="6315760"/>
            <a:ext cx="50292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131052" y="6315760"/>
            <a:ext cx="0" cy="45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5987033" y="6316218"/>
            <a:ext cx="144019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987033" y="1604772"/>
            <a:ext cx="0" cy="4711446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987033" y="1604772"/>
            <a:ext cx="144019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131052" y="1604772"/>
            <a:ext cx="0" cy="12801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131052" y="1617573"/>
            <a:ext cx="5029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379208" y="6377940"/>
            <a:ext cx="48006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427214" y="3559302"/>
            <a:ext cx="0" cy="2818638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427214" y="3559302"/>
            <a:ext cx="166649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093708" y="2468879"/>
            <a:ext cx="0" cy="109042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093708" y="2468879"/>
            <a:ext cx="20574" cy="0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114282" y="2461336"/>
            <a:ext cx="0" cy="7543"/>
          </a:xfrm>
          <a:prstGeom prst="line">
            <a:avLst/>
          </a:prstGeom>
          <a:ln w="381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114282" y="2461336"/>
            <a:ext cx="38862" cy="0"/>
          </a:xfrm>
          <a:prstGeom prst="line">
            <a:avLst/>
          </a:prstGeom>
          <a:ln w="381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4649724" y="1093622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649724" y="1028700"/>
            <a:ext cx="0" cy="64922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4443983" y="1028700"/>
            <a:ext cx="205741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443983" y="1028700"/>
            <a:ext cx="0" cy="2743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4407408" y="1031443"/>
            <a:ext cx="36575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4649724" y="1155801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649724" y="1155801"/>
            <a:ext cx="0" cy="2259483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4443983" y="3415284"/>
            <a:ext cx="205741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443983" y="3393795"/>
            <a:ext cx="0" cy="2148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4649724" y="2321433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649724" y="2321433"/>
            <a:ext cx="0" cy="342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649724" y="2324862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4670298" y="2324862"/>
            <a:ext cx="0" cy="123444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4649724" y="3559302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649724" y="3549243"/>
            <a:ext cx="0" cy="1005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649724" y="3549243"/>
            <a:ext cx="45720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4649724" y="2383612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649724" y="2383612"/>
            <a:ext cx="0" cy="2972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4629150" y="2386584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629150" y="1028700"/>
            <a:ext cx="0" cy="1357884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4629150" y="1028700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4649724" y="1028700"/>
            <a:ext cx="0" cy="2743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4649724" y="1031443"/>
            <a:ext cx="45720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4649724" y="4839233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649724" y="4834890"/>
            <a:ext cx="0" cy="4343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4608576" y="4834890"/>
            <a:ext cx="41148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4608576" y="2263140"/>
            <a:ext cx="0" cy="257175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608576" y="2263140"/>
            <a:ext cx="41148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4649724" y="2259253"/>
            <a:ext cx="0" cy="3887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4649724" y="2259253"/>
            <a:ext cx="45720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>
            <a:off x="4649724" y="4901412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4649724" y="4896612"/>
            <a:ext cx="0" cy="480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4464557" y="4896612"/>
            <a:ext cx="185167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4464557" y="3415284"/>
            <a:ext cx="0" cy="1481328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4443983" y="3415284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4443983" y="3393795"/>
            <a:ext cx="0" cy="2148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H="1">
            <a:off x="4649724" y="6067044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649724" y="6067044"/>
            <a:ext cx="0" cy="2286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649724" y="6069330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4670298" y="3559302"/>
            <a:ext cx="0" cy="2510028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4649724" y="3559302"/>
            <a:ext cx="20574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4649724" y="3549243"/>
            <a:ext cx="0" cy="1005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649724" y="3549243"/>
            <a:ext cx="45720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4649724" y="6129223"/>
            <a:ext cx="45720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649724" y="6089904"/>
            <a:ext cx="0" cy="39319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4485132" y="6089904"/>
            <a:ext cx="164592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485132" y="3435858"/>
            <a:ext cx="0" cy="2654046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4443983" y="3435858"/>
            <a:ext cx="41149" cy="0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443983" y="3393795"/>
            <a:ext cx="0" cy="42063"/>
          </a:xfrm>
          <a:prstGeom prst="line">
            <a:avLst/>
          </a:prstGeom>
          <a:ln w="381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>
            <a:off x="7632954" y="2125614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632954" y="2119122"/>
            <a:ext cx="0" cy="6492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7406640" y="2119122"/>
            <a:ext cx="226314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7406640" y="2119122"/>
            <a:ext cx="0" cy="133731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5945886" y="3456432"/>
            <a:ext cx="1460754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945886" y="3456432"/>
            <a:ext cx="0" cy="10287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5925312" y="3559302"/>
            <a:ext cx="20574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5925312" y="3549243"/>
            <a:ext cx="0" cy="10059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>
            <a:off x="7632954" y="2187793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7632954" y="1031443"/>
            <a:ext cx="0" cy="115635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632954" y="1031443"/>
            <a:ext cx="34290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7632954" y="2249972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632954" y="2249972"/>
            <a:ext cx="0" cy="362926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>
            <a:off x="5925312" y="2612898"/>
            <a:ext cx="1707642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925312" y="2612898"/>
            <a:ext cx="0" cy="24688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>
            <a:off x="4526280" y="2859786"/>
            <a:ext cx="1399032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526280" y="2859786"/>
            <a:ext cx="0" cy="51435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4443983" y="3374136"/>
            <a:ext cx="82297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443983" y="3374136"/>
            <a:ext cx="0" cy="19659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7632954" y="3281964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632954" y="3281964"/>
            <a:ext cx="0" cy="9875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7612379" y="3291839"/>
            <a:ext cx="2057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7612379" y="2057400"/>
            <a:ext cx="0" cy="1234439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7612379" y="2057400"/>
            <a:ext cx="2057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632954" y="2057400"/>
            <a:ext cx="0" cy="6035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7632954" y="2063435"/>
            <a:ext cx="34290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7632954" y="4189597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7632954" y="4053078"/>
            <a:ext cx="0" cy="136519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>
            <a:off x="4505706" y="4053078"/>
            <a:ext cx="3127248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4505706" y="3394710"/>
            <a:ext cx="0" cy="65836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4443983" y="3394710"/>
            <a:ext cx="61723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443983" y="3393795"/>
            <a:ext cx="0" cy="915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7632954" y="4251777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7632954" y="4251777"/>
            <a:ext cx="0" cy="7041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7447788" y="4258818"/>
            <a:ext cx="185166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7447788" y="1419606"/>
            <a:ext cx="0" cy="2839212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4670298" y="1419606"/>
            <a:ext cx="27774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670298" y="1110995"/>
            <a:ext cx="0" cy="308611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4443983" y="1110995"/>
            <a:ext cx="22631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443983" y="1031443"/>
            <a:ext cx="0" cy="79552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4407408" y="1031443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>
            <a:off x="7632954" y="4313956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7632954" y="4313956"/>
            <a:ext cx="0" cy="6584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7468362" y="4320540"/>
            <a:ext cx="164592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7468362" y="1399032"/>
            <a:ext cx="0" cy="292150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5925312" y="1399032"/>
            <a:ext cx="154305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5925312" y="1399032"/>
            <a:ext cx="0" cy="4114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4464557" y="1440180"/>
            <a:ext cx="146075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464557" y="1028700"/>
            <a:ext cx="0" cy="41148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>
            <a:off x="4443983" y="1028700"/>
            <a:ext cx="20574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4443983" y="1028700"/>
            <a:ext cx="0" cy="2743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4407408" y="1031443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>
            <a:off x="7632954" y="5283768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7632954" y="4629150"/>
            <a:ext cx="0" cy="65461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>
            <a:off x="5925312" y="4629150"/>
            <a:ext cx="1707642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5925312" y="3549243"/>
            <a:ext cx="0" cy="1079907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>
            <a:off x="7632954" y="5345948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7632954" y="5345948"/>
            <a:ext cx="0" cy="3292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H="1">
            <a:off x="7612379" y="5349240"/>
            <a:ext cx="2057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612379" y="4135374"/>
            <a:ext cx="0" cy="1213866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7612379" y="4135374"/>
            <a:ext cx="2057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632954" y="4127418"/>
            <a:ext cx="0" cy="7956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7632954" y="4127418"/>
            <a:ext cx="34290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>
            <a:off x="7632954" y="5408127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7632954" y="5408127"/>
            <a:ext cx="0" cy="2835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>
            <a:off x="4546854" y="5410962"/>
            <a:ext cx="308610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546854" y="1049274"/>
            <a:ext cx="0" cy="436168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H="1">
            <a:off x="4443983" y="1049274"/>
            <a:ext cx="102871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443983" y="1031443"/>
            <a:ext cx="0" cy="17831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4407408" y="1031443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7632954" y="5470306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632954" y="5470306"/>
            <a:ext cx="0" cy="2377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4567428" y="5472683"/>
            <a:ext cx="3065526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567428" y="1008126"/>
            <a:ext cx="0" cy="4464557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4443983" y="1008126"/>
            <a:ext cx="123445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4443983" y="1008126"/>
            <a:ext cx="0" cy="23317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>
            <a:off x="4407408" y="1031443"/>
            <a:ext cx="36575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7632954" y="6315760"/>
            <a:ext cx="34290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632954" y="6315760"/>
            <a:ext cx="0" cy="45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7591806" y="6316218"/>
            <a:ext cx="41148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7591806" y="2057400"/>
            <a:ext cx="0" cy="4258818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7591806" y="2057400"/>
            <a:ext cx="41148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7632954" y="2057400"/>
            <a:ext cx="0" cy="6035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7632954" y="2063435"/>
            <a:ext cx="34290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>
            <a:off x="7571231" y="6377940"/>
            <a:ext cx="96013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7571231" y="4135374"/>
            <a:ext cx="0" cy="2242566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571231" y="4135374"/>
            <a:ext cx="61723" cy="0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7632954" y="4127418"/>
            <a:ext cx="0" cy="7956"/>
          </a:xfrm>
          <a:prstGeom prst="line">
            <a:avLst/>
          </a:prstGeom>
          <a:ln w="381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632954" y="4127418"/>
            <a:ext cx="34290" cy="0"/>
          </a:xfrm>
          <a:prstGeom prst="line">
            <a:avLst/>
          </a:prstGeom>
          <a:ln w="381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2921508" y="1093622"/>
            <a:ext cx="41148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962656" y="1093622"/>
            <a:ext cx="0" cy="2280514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2962656" y="3374136"/>
            <a:ext cx="205740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3168396" y="3374136"/>
            <a:ext cx="0" cy="19659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2921508" y="2187793"/>
            <a:ext cx="41148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2962656" y="2180844"/>
            <a:ext cx="0" cy="6949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2962656" y="2180844"/>
            <a:ext cx="123444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3086100" y="1028700"/>
            <a:ext cx="0" cy="1152144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086100" y="1028700"/>
            <a:ext cx="82296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168396" y="1028700"/>
            <a:ext cx="0" cy="2743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168396" y="1031443"/>
            <a:ext cx="41148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1687068" y="4065239"/>
            <a:ext cx="36576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687068" y="1031443"/>
            <a:ext cx="0" cy="3033796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687068" y="1031443"/>
            <a:ext cx="36576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1687068" y="4127418"/>
            <a:ext cx="36576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687068" y="4127418"/>
            <a:ext cx="0" cy="7956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1666494" y="4135374"/>
            <a:ext cx="20574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666494" y="2119122"/>
            <a:ext cx="0" cy="2016252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666494" y="2119122"/>
            <a:ext cx="20574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687068" y="2119122"/>
            <a:ext cx="0" cy="6492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687068" y="2125614"/>
            <a:ext cx="36576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H="1">
            <a:off x="1687068" y="4910693"/>
            <a:ext cx="36576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687068" y="4910693"/>
            <a:ext cx="0" cy="6493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>
            <a:off x="1645919" y="4917186"/>
            <a:ext cx="41149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1645919" y="1028700"/>
            <a:ext cx="0" cy="3888486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645919" y="1028700"/>
            <a:ext cx="41149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687068" y="1028700"/>
            <a:ext cx="0" cy="2743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687068" y="1031443"/>
            <a:ext cx="36576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2921508" y="4972872"/>
            <a:ext cx="41148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2962656" y="3394710"/>
            <a:ext cx="0" cy="1578162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2962656" y="3394710"/>
            <a:ext cx="205740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3168396" y="3393795"/>
            <a:ext cx="0" cy="915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1687068" y="6004864"/>
            <a:ext cx="36576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687068" y="6004864"/>
            <a:ext cx="0" cy="2743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>
            <a:off x="1625345" y="6007607"/>
            <a:ext cx="61723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625345" y="1028700"/>
            <a:ext cx="0" cy="4978907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625345" y="1028700"/>
            <a:ext cx="61723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687068" y="1028700"/>
            <a:ext cx="0" cy="2743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687068" y="1031443"/>
            <a:ext cx="36576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2921508" y="6067044"/>
            <a:ext cx="41148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2962656" y="6067044"/>
            <a:ext cx="0" cy="2286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2962656" y="6069330"/>
            <a:ext cx="144018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3106674" y="3415284"/>
            <a:ext cx="0" cy="2654046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3106674" y="3415284"/>
            <a:ext cx="61722" cy="0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3168396" y="3393795"/>
            <a:ext cx="0" cy="21489"/>
          </a:xfrm>
          <a:prstGeom prst="line">
            <a:avLst/>
          </a:prstGeom>
          <a:ln w="381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>
            <a:off x="9114282" y="1093622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9114282" y="1090422"/>
            <a:ext cx="0" cy="320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H="1">
            <a:off x="8887967" y="1090422"/>
            <a:ext cx="226315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8887967" y="1090422"/>
            <a:ext cx="0" cy="1933955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H="1">
            <a:off x="7488936" y="3024377"/>
            <a:ext cx="1399031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7488936" y="3024377"/>
            <a:ext cx="0" cy="411481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>
            <a:off x="5966459" y="3435858"/>
            <a:ext cx="1522477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5966459" y="3435858"/>
            <a:ext cx="0" cy="102869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>
            <a:off x="5925312" y="3538727"/>
            <a:ext cx="41147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5925312" y="3538727"/>
            <a:ext cx="0" cy="10516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9114282" y="1155801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9114282" y="1152144"/>
            <a:ext cx="0" cy="3657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>
            <a:off x="8908542" y="1152144"/>
            <a:ext cx="205740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8908542" y="1152144"/>
            <a:ext cx="0" cy="1851659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7509510" y="3003803"/>
            <a:ext cx="139903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7509510" y="3003803"/>
            <a:ext cx="0" cy="349759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>
            <a:off x="4443983" y="3353562"/>
            <a:ext cx="3065527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443983" y="3353562"/>
            <a:ext cx="0" cy="40233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>
            <a:off x="9114282" y="3766870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9114282" y="3765041"/>
            <a:ext cx="0" cy="1829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>
            <a:off x="9073134" y="3765041"/>
            <a:ext cx="41148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9073134" y="1028700"/>
            <a:ext cx="0" cy="2736341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9073134" y="1028700"/>
            <a:ext cx="41148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9114282" y="1028700"/>
            <a:ext cx="0" cy="2743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9114282" y="1031443"/>
            <a:ext cx="38862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>
            <a:off x="9114282" y="3829050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9114282" y="2461336"/>
            <a:ext cx="0" cy="1367714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9114282" y="2461336"/>
            <a:ext cx="38862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>
            <a:off x="9114282" y="4885867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9114282" y="4876038"/>
            <a:ext cx="0" cy="9829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H="1">
            <a:off x="9052560" y="4876038"/>
            <a:ext cx="6172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9052560" y="2407158"/>
            <a:ext cx="0" cy="246888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9052560" y="2407158"/>
            <a:ext cx="6172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9114282" y="1031443"/>
            <a:ext cx="0" cy="1375715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9114282" y="1031443"/>
            <a:ext cx="38862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9114282" y="6129223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9114282" y="4823688"/>
            <a:ext cx="0" cy="1305535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9114282" y="4823688"/>
            <a:ext cx="38862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H="1">
            <a:off x="9114282" y="6191402"/>
            <a:ext cx="38862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9114282" y="6191402"/>
            <a:ext cx="0" cy="1372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H="1">
            <a:off x="8887967" y="6192774"/>
            <a:ext cx="226315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8887967" y="5925312"/>
            <a:ext cx="0" cy="267462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>
            <a:off x="5925312" y="5925312"/>
            <a:ext cx="2962655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5925312" y="5493257"/>
            <a:ext cx="0" cy="432055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4443983" y="5493257"/>
            <a:ext cx="1481329" cy="0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443983" y="3393795"/>
            <a:ext cx="0" cy="2099462"/>
          </a:xfrm>
          <a:prstGeom prst="line">
            <a:avLst/>
          </a:prstGeom>
          <a:ln w="381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10595610" y="1093622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0595610" y="1093622"/>
            <a:ext cx="0" cy="758038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>
            <a:off x="7427214" y="1851660"/>
            <a:ext cx="3168396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7427214" y="1851660"/>
            <a:ext cx="0" cy="740664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>
            <a:off x="5945886" y="2592324"/>
            <a:ext cx="1481328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5945886" y="2592324"/>
            <a:ext cx="0" cy="246888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2983229" y="2839212"/>
            <a:ext cx="2962657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2983229" y="2839212"/>
            <a:ext cx="0" cy="246888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>
            <a:off x="2962656" y="3086100"/>
            <a:ext cx="20573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2962656" y="3086100"/>
            <a:ext cx="0" cy="9326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H="1">
            <a:off x="2921508" y="3095426"/>
            <a:ext cx="41148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>
            <a:off x="10595610" y="1155801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10595610" y="1152144"/>
            <a:ext cx="0" cy="3657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>
            <a:off x="10389869" y="1152144"/>
            <a:ext cx="205741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0389869" y="1152144"/>
            <a:ext cx="0" cy="678942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H="1">
            <a:off x="7488936" y="1831086"/>
            <a:ext cx="2900933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7488936" y="1831086"/>
            <a:ext cx="0" cy="740664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H="1">
            <a:off x="5966459" y="2571750"/>
            <a:ext cx="1522477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5966459" y="2571750"/>
            <a:ext cx="0" cy="761238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H="1">
            <a:off x="4443983" y="3332988"/>
            <a:ext cx="1522476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4443983" y="3332988"/>
            <a:ext cx="0" cy="60807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>
            <a:off x="4407408" y="3393795"/>
            <a:ext cx="36575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>
            <a:off x="10595610" y="2200229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0595610" y="2200229"/>
            <a:ext cx="0" cy="1189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0595610" y="2201418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10616184" y="1028700"/>
            <a:ext cx="0" cy="1172718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H="1">
            <a:off x="10595610" y="1028700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0595610" y="1028700"/>
            <a:ext cx="0" cy="2743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0595610" y="1031443"/>
            <a:ext cx="4343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10595610" y="3244656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0595610" y="3244656"/>
            <a:ext cx="0" cy="6035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>
            <a:off x="8887967" y="3250691"/>
            <a:ext cx="1707643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8887967" y="3250691"/>
            <a:ext cx="0" cy="329185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>
            <a:off x="7509510" y="3579876"/>
            <a:ext cx="1378457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7509510" y="3415284"/>
            <a:ext cx="0" cy="164592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>
            <a:off x="5945886" y="3415284"/>
            <a:ext cx="156362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5945886" y="3415284"/>
            <a:ext cx="0" cy="102869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>
            <a:off x="5925312" y="3518153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5925312" y="3518153"/>
            <a:ext cx="0" cy="3109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H="1">
            <a:off x="5893308" y="3549243"/>
            <a:ext cx="3200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10595610" y="3306836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10595610" y="2468879"/>
            <a:ext cx="0" cy="837957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10389869" y="2468879"/>
            <a:ext cx="205741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10389869" y="2461336"/>
            <a:ext cx="0" cy="7543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10351008" y="2461336"/>
            <a:ext cx="38861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H="1">
            <a:off x="10595610" y="4289084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10595610" y="4279392"/>
            <a:ext cx="0" cy="9692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0595610" y="4279392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0616184" y="2221991"/>
            <a:ext cx="0" cy="2057401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H="1">
            <a:off x="10595610" y="2221991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10595610" y="2138050"/>
            <a:ext cx="0" cy="83941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0595610" y="2138050"/>
            <a:ext cx="4343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H="1">
            <a:off x="10595610" y="4351263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0595610" y="4341114"/>
            <a:ext cx="0" cy="10149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10575036" y="4341114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0575036" y="3188970"/>
            <a:ext cx="0" cy="1152144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0575036" y="3188970"/>
            <a:ext cx="2057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0595610" y="3182477"/>
            <a:ext cx="0" cy="6493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0595610" y="3182477"/>
            <a:ext cx="4343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>
            <a:off x="10595610" y="6253581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0595610" y="6253581"/>
            <a:ext cx="0" cy="915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H="1">
            <a:off x="10554462" y="6254496"/>
            <a:ext cx="41148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10554462" y="1028700"/>
            <a:ext cx="0" cy="5225796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0554462" y="1028700"/>
            <a:ext cx="41148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0595610" y="1028700"/>
            <a:ext cx="0" cy="2743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10595610" y="1031443"/>
            <a:ext cx="4343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10595610" y="6315760"/>
            <a:ext cx="43434" cy="0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10595610" y="5209153"/>
            <a:ext cx="0" cy="1106607"/>
          </a:xfrm>
          <a:prstGeom prst="line">
            <a:avLst/>
          </a:prstGeom>
          <a:ln w="381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0595610" y="5209153"/>
            <a:ext cx="43434" cy="0"/>
          </a:xfrm>
          <a:prstGeom prst="line">
            <a:avLst/>
          </a:prstGeom>
          <a:ln w="381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435608" y="1093622"/>
            <a:ext cx="45720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1481328" y="1093622"/>
            <a:ext cx="0" cy="225994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1481328" y="3353562"/>
            <a:ext cx="1687068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3168396" y="3353562"/>
            <a:ext cx="0" cy="40233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3168396" y="3393795"/>
            <a:ext cx="41148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05739" y="2336945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205739" y="1031443"/>
            <a:ext cx="0" cy="1305502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05739" y="103144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205739" y="2399124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205739" y="2399124"/>
            <a:ext cx="0" cy="8034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185166" y="2407158"/>
            <a:ext cx="20573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185166" y="1707642"/>
            <a:ext cx="0" cy="699516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185166" y="1707642"/>
            <a:ext cx="20573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205739" y="1707642"/>
            <a:ext cx="0" cy="7641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205739" y="171528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435608" y="2461303"/>
            <a:ext cx="45720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481328" y="2461303"/>
            <a:ext cx="0" cy="7576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481328" y="2468879"/>
            <a:ext cx="123444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604772" y="2468879"/>
            <a:ext cx="0" cy="617221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1604772" y="3086100"/>
            <a:ext cx="82296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1687068" y="3086100"/>
            <a:ext cx="0" cy="9326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1687068" y="3095426"/>
            <a:ext cx="36576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H="1">
            <a:off x="205739" y="3766805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205739" y="3765041"/>
            <a:ext cx="0" cy="1764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H="1">
            <a:off x="164592" y="3765041"/>
            <a:ext cx="41147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164592" y="1707642"/>
            <a:ext cx="0" cy="2057399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164592" y="1707642"/>
            <a:ext cx="41147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205739" y="1707642"/>
            <a:ext cx="0" cy="7641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205739" y="171528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H="1">
            <a:off x="205739" y="3828984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05739" y="2958606"/>
            <a:ext cx="0" cy="870378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205739" y="2958606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H="1">
            <a:off x="205739" y="4388466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205739" y="4382262"/>
            <a:ext cx="0" cy="6204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144018" y="4382262"/>
            <a:ext cx="61721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144018" y="1028700"/>
            <a:ext cx="0" cy="3353562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44018" y="1028700"/>
            <a:ext cx="61721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205739" y="1028700"/>
            <a:ext cx="0" cy="2743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205739" y="103144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205739" y="5321024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05739" y="5321024"/>
            <a:ext cx="0" cy="7642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123444" y="5328666"/>
            <a:ext cx="8229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23444" y="1049274"/>
            <a:ext cx="0" cy="4279392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123444" y="1049274"/>
            <a:ext cx="8229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205739" y="1031443"/>
            <a:ext cx="0" cy="17831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205739" y="103144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H="1">
            <a:off x="205739" y="6129223"/>
            <a:ext cx="32005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205739" y="6129223"/>
            <a:ext cx="0" cy="1829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>
            <a:off x="102869" y="6131052"/>
            <a:ext cx="102870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102869" y="1008126"/>
            <a:ext cx="0" cy="5122926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02869" y="1008126"/>
            <a:ext cx="102870" cy="0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205739" y="1008126"/>
            <a:ext cx="0" cy="23317"/>
          </a:xfrm>
          <a:prstGeom prst="line">
            <a:avLst/>
          </a:prstGeom>
          <a:ln w="381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205739" y="1031443"/>
            <a:ext cx="32005" cy="0"/>
          </a:xfrm>
          <a:prstGeom prst="line">
            <a:avLst/>
          </a:prstGeom>
          <a:ln w="381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ectangle 529"/>
          <p:cNvSpPr/>
          <p:nvPr/>
        </p:nvSpPr>
        <p:spPr>
          <a:xfrm>
            <a:off x="4695444" y="33773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Rectangle 530"/>
          <p:cNvSpPr/>
          <p:nvPr/>
        </p:nvSpPr>
        <p:spPr>
          <a:xfrm>
            <a:off x="4695444" y="3377336"/>
            <a:ext cx="1197864" cy="123444"/>
          </a:xfrm>
          <a:prstGeom prst="rect">
            <a:avLst/>
          </a:prstGeom>
          <a:solidFill>
            <a:srgbClr val="647C89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TextBox 531"/>
          <p:cNvSpPr txBox="1"/>
          <p:nvPr/>
        </p:nvSpPr>
        <p:spPr>
          <a:xfrm>
            <a:off x="4713731" y="33937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715560" y="35181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823459" y="35181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4715560" y="35803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36" name="TextBox 535"/>
          <p:cNvSpPr txBox="1"/>
          <p:nvPr/>
        </p:nvSpPr>
        <p:spPr>
          <a:xfrm>
            <a:off x="4823459" y="35803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sire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4715560" y="36425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38" name="TextBox 537"/>
          <p:cNvSpPr txBox="1"/>
          <p:nvPr/>
        </p:nvSpPr>
        <p:spPr>
          <a:xfrm>
            <a:off x="4823459" y="36425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4715560" y="37046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40" name="TextBox 539"/>
          <p:cNvSpPr txBox="1"/>
          <p:nvPr/>
        </p:nvSpPr>
        <p:spPr>
          <a:xfrm>
            <a:off x="4823459" y="37046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sexe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4715560" y="37668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42" name="TextBox 541"/>
          <p:cNvSpPr txBox="1"/>
          <p:nvPr/>
        </p:nvSpPr>
        <p:spPr>
          <a:xfrm>
            <a:off x="4823459" y="37668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date_naissance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4715560" y="38290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823459" y="38290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3209544" y="3221888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Rectangle 545"/>
          <p:cNvSpPr/>
          <p:nvPr/>
        </p:nvSpPr>
        <p:spPr>
          <a:xfrm>
            <a:off x="3209544" y="3221888"/>
            <a:ext cx="1197864" cy="123444"/>
          </a:xfrm>
          <a:prstGeom prst="rect">
            <a:avLst/>
          </a:prstGeom>
          <a:solidFill>
            <a:srgbClr val="647C89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3227832" y="323834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229660" y="336270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3337560" y="336270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229660" y="342488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51" name="TextBox 550"/>
          <p:cNvSpPr txBox="1"/>
          <p:nvPr/>
        </p:nvSpPr>
        <p:spPr>
          <a:xfrm>
            <a:off x="3337560" y="342488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3229660" y="348706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53" name="TextBox 552"/>
          <p:cNvSpPr txBox="1"/>
          <p:nvPr/>
        </p:nvSpPr>
        <p:spPr>
          <a:xfrm>
            <a:off x="3337560" y="348706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type_acteur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3229660" y="354924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55" name="TextBox 554"/>
          <p:cNvSpPr txBox="1"/>
          <p:nvPr/>
        </p:nvSpPr>
        <p:spPr>
          <a:xfrm>
            <a:off x="3337560" y="354924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roles_metier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3229660" y="361142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57" name="TextBox 556"/>
          <p:cNvSpPr txBox="1"/>
          <p:nvPr/>
        </p:nvSpPr>
        <p:spPr>
          <a:xfrm>
            <a:off x="3337560" y="361142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3229660" y="367360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59" name="TextBox 558"/>
          <p:cNvSpPr txBox="1"/>
          <p:nvPr/>
        </p:nvSpPr>
        <p:spPr>
          <a:xfrm>
            <a:off x="3337560" y="367360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telephone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3229660" y="37357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61" name="TextBox 560"/>
          <p:cNvSpPr txBox="1"/>
          <p:nvPr/>
        </p:nvSpPr>
        <p:spPr>
          <a:xfrm>
            <a:off x="3337560" y="37357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adresse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1723644" y="2923519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Rectangle 562"/>
          <p:cNvSpPr/>
          <p:nvPr/>
        </p:nvSpPr>
        <p:spPr>
          <a:xfrm>
            <a:off x="1723644" y="2923519"/>
            <a:ext cx="1197864" cy="123444"/>
          </a:xfrm>
          <a:prstGeom prst="rect">
            <a:avLst/>
          </a:prstGeom>
          <a:solidFill>
            <a:srgbClr val="647C89"/>
          </a:solidFill>
          <a:ln w="3175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TextBox 563"/>
          <p:cNvSpPr txBox="1"/>
          <p:nvPr/>
        </p:nvSpPr>
        <p:spPr>
          <a:xfrm>
            <a:off x="1741932" y="2939978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ECURIE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1743760" y="306433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1851660" y="306433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1743760" y="312651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68" name="TextBox 567"/>
          <p:cNvSpPr txBox="1"/>
          <p:nvPr/>
        </p:nvSpPr>
        <p:spPr>
          <a:xfrm>
            <a:off x="1851660" y="312651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1743760" y="318869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70" name="TextBox 569"/>
          <p:cNvSpPr txBox="1"/>
          <p:nvPr/>
        </p:nvSpPr>
        <p:spPr>
          <a:xfrm>
            <a:off x="1851660" y="318869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adresse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743760" y="325087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647C89"/>
                </a:solidFill>
                <a:latin typeface="Aptos"/>
              </a:defRPr>
            </a:pPr>
            <a:endParaRPr/>
          </a:p>
        </p:txBody>
      </p:sp>
      <p:sp>
        <p:nvSpPr>
          <p:cNvPr id="572" name="TextBox 571"/>
          <p:cNvSpPr txBox="1"/>
          <p:nvPr/>
        </p:nvSpPr>
        <p:spPr>
          <a:xfrm>
            <a:off x="1851660" y="325087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573" name="Rectangle 572"/>
          <p:cNvSpPr/>
          <p:nvPr/>
        </p:nvSpPr>
        <p:spPr>
          <a:xfrm>
            <a:off x="3209544" y="8595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Rectangle 573"/>
          <p:cNvSpPr/>
          <p:nvPr/>
        </p:nvSpPr>
        <p:spPr>
          <a:xfrm>
            <a:off x="3209544" y="859536"/>
            <a:ext cx="1197864" cy="123444"/>
          </a:xfrm>
          <a:prstGeom prst="rect">
            <a:avLst/>
          </a:prstGeom>
          <a:solidFill>
            <a:srgbClr val="387A58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TextBox 574"/>
          <p:cNvSpPr txBox="1"/>
          <p:nvPr/>
        </p:nvSpPr>
        <p:spPr>
          <a:xfrm>
            <a:off x="3227832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32296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33375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32296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33375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32296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33375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lieu_parent_id?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32296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583" name="TextBox 582"/>
          <p:cNvSpPr txBox="1"/>
          <p:nvPr/>
        </p:nvSpPr>
        <p:spPr>
          <a:xfrm>
            <a:off x="33375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32296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585" name="TextBox 584"/>
          <p:cNvSpPr txBox="1"/>
          <p:nvPr/>
        </p:nvSpPr>
        <p:spPr>
          <a:xfrm>
            <a:off x="3337560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type_lieu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32296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587" name="TextBox 586"/>
          <p:cNvSpPr txBox="1"/>
          <p:nvPr/>
        </p:nvSpPr>
        <p:spPr>
          <a:xfrm>
            <a:off x="3337560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capacite</a:t>
            </a:r>
          </a:p>
        </p:txBody>
      </p:sp>
      <p:sp>
        <p:nvSpPr>
          <p:cNvPr id="588" name="Rectangle 587"/>
          <p:cNvSpPr/>
          <p:nvPr/>
        </p:nvSpPr>
        <p:spPr>
          <a:xfrm>
            <a:off x="3209544" y="2040712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/>
          <p:cNvSpPr/>
          <p:nvPr/>
        </p:nvSpPr>
        <p:spPr>
          <a:xfrm>
            <a:off x="3209544" y="2040712"/>
            <a:ext cx="1197864" cy="123444"/>
          </a:xfrm>
          <a:prstGeom prst="rect">
            <a:avLst/>
          </a:prstGeom>
          <a:solidFill>
            <a:srgbClr val="387A58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TextBox 589"/>
          <p:cNvSpPr txBox="1"/>
          <p:nvPr/>
        </p:nvSpPr>
        <p:spPr>
          <a:xfrm>
            <a:off x="3227832" y="2057171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SEJOUR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3229660" y="218152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3337560" y="218152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3229660" y="224370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37560" y="224370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3229660" y="230588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37560" y="230588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3229660" y="236806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3337560" y="236806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date_debut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3229660" y="243024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00" name="TextBox 599"/>
          <p:cNvSpPr txBox="1"/>
          <p:nvPr/>
        </p:nvSpPr>
        <p:spPr>
          <a:xfrm>
            <a:off x="3337560" y="243024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date_fin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3229660" y="249242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02" name="TextBox 601"/>
          <p:cNvSpPr txBox="1"/>
          <p:nvPr/>
        </p:nvSpPr>
        <p:spPr>
          <a:xfrm>
            <a:off x="3337560" y="249242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motif</a:t>
            </a:r>
          </a:p>
        </p:txBody>
      </p:sp>
      <p:sp>
        <p:nvSpPr>
          <p:cNvPr id="603" name="Rectangle 602"/>
          <p:cNvSpPr/>
          <p:nvPr/>
        </p:nvSpPr>
        <p:spPr>
          <a:xfrm>
            <a:off x="3209544" y="4465243"/>
            <a:ext cx="1197864" cy="781812"/>
          </a:xfrm>
          <a:prstGeom prst="rect">
            <a:avLst/>
          </a:prstGeom>
          <a:solidFill>
            <a:srgbClr val="FFFFFF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Rectangle 603"/>
          <p:cNvSpPr/>
          <p:nvPr/>
        </p:nvSpPr>
        <p:spPr>
          <a:xfrm>
            <a:off x="3209544" y="4465243"/>
            <a:ext cx="1197864" cy="123444"/>
          </a:xfrm>
          <a:prstGeom prst="rect">
            <a:avLst/>
          </a:prstGeom>
          <a:solidFill>
            <a:srgbClr val="387A58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TextBox 604"/>
          <p:cNvSpPr txBox="1"/>
          <p:nvPr/>
        </p:nvSpPr>
        <p:spPr>
          <a:xfrm>
            <a:off x="3227832" y="4481703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MOUVEMENT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3229660" y="460606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3337560" y="460606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3229660" y="466824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3337560" y="466824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3229660" y="473041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3337560" y="473041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lieu_depart_id?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3229660" y="479259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3337560" y="479259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lieu_arrivee_id?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3229660" y="485477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3337560" y="485477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transporteur_id?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3229660" y="491695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17" name="TextBox 616"/>
          <p:cNvSpPr txBox="1"/>
          <p:nvPr/>
        </p:nvSpPr>
        <p:spPr>
          <a:xfrm>
            <a:off x="3337560" y="491695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3229660" y="497913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19" name="TextBox 618"/>
          <p:cNvSpPr txBox="1"/>
          <p:nvPr/>
        </p:nvSpPr>
        <p:spPr>
          <a:xfrm>
            <a:off x="3337560" y="497913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sens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3229660" y="504131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21" name="TextBox 620"/>
          <p:cNvSpPr txBox="1"/>
          <p:nvPr/>
        </p:nvSpPr>
        <p:spPr>
          <a:xfrm>
            <a:off x="3337560" y="504131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provenance_texte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3229660" y="510349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23" name="TextBox 622"/>
          <p:cNvSpPr txBox="1"/>
          <p:nvPr/>
        </p:nvSpPr>
        <p:spPr>
          <a:xfrm>
            <a:off x="3337560" y="510349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destination_texte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3229660" y="516567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25" name="TextBox 624"/>
          <p:cNvSpPr txBox="1"/>
          <p:nvPr/>
        </p:nvSpPr>
        <p:spPr>
          <a:xfrm>
            <a:off x="3337560" y="516567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reference_bon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3209544" y="58951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ectangle 626"/>
          <p:cNvSpPr/>
          <p:nvPr/>
        </p:nvSpPr>
        <p:spPr>
          <a:xfrm>
            <a:off x="3209544" y="5895136"/>
            <a:ext cx="1197864" cy="123444"/>
          </a:xfrm>
          <a:prstGeom prst="rect">
            <a:avLst/>
          </a:prstGeom>
          <a:solidFill>
            <a:srgbClr val="387A58"/>
          </a:solidFill>
          <a:ln w="3175">
            <a:solidFill>
              <a:srgbClr val="38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TextBox 627"/>
          <p:cNvSpPr txBox="1"/>
          <p:nvPr/>
        </p:nvSpPr>
        <p:spPr>
          <a:xfrm>
            <a:off x="3227832" y="591159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DETENTION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3229660" y="60359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3337560" y="60359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3229660" y="60981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3337560" y="60981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32296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3337560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proprietaire_id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32296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36" name="TextBox 635"/>
          <p:cNvSpPr txBox="1"/>
          <p:nvPr/>
        </p:nvSpPr>
        <p:spPr>
          <a:xfrm>
            <a:off x="3337560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date_debut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32296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38" name="TextBox 637"/>
          <p:cNvSpPr txBox="1"/>
          <p:nvPr/>
        </p:nvSpPr>
        <p:spPr>
          <a:xfrm>
            <a:off x="33375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date_fin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32296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87A58"/>
                </a:solidFill>
                <a:latin typeface="Aptos"/>
              </a:defRPr>
            </a:pPr>
            <a:endParaRPr/>
          </a:p>
        </p:txBody>
      </p:sp>
      <p:sp>
        <p:nvSpPr>
          <p:cNvPr id="640" name="TextBox 639"/>
          <p:cNvSpPr txBox="1"/>
          <p:nvPr/>
        </p:nvSpPr>
        <p:spPr>
          <a:xfrm>
            <a:off x="33375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quote_part</a:t>
            </a:r>
          </a:p>
        </p:txBody>
      </p:sp>
      <p:sp>
        <p:nvSpPr>
          <p:cNvPr id="641" name="Rectangle 640"/>
          <p:cNvSpPr/>
          <p:nvPr/>
        </p:nvSpPr>
        <p:spPr>
          <a:xfrm>
            <a:off x="6181344" y="859536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Rectangle 641"/>
          <p:cNvSpPr/>
          <p:nvPr/>
        </p:nvSpPr>
        <p:spPr>
          <a:xfrm>
            <a:off x="6181344" y="859536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TextBox 642"/>
          <p:cNvSpPr txBox="1"/>
          <p:nvPr/>
        </p:nvSpPr>
        <p:spPr>
          <a:xfrm>
            <a:off x="6199631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PRODUIT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62014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6309359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62014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47" name="TextBox 646"/>
          <p:cNvSpPr txBox="1"/>
          <p:nvPr/>
        </p:nvSpPr>
        <p:spPr>
          <a:xfrm>
            <a:off x="6309359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62014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49" name="TextBox 648"/>
          <p:cNvSpPr txBox="1"/>
          <p:nvPr/>
        </p:nvSpPr>
        <p:spPr>
          <a:xfrm>
            <a:off x="6309359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categorie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62014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51" name="TextBox 650"/>
          <p:cNvSpPr txBox="1"/>
          <p:nvPr/>
        </p:nvSpPr>
        <p:spPr>
          <a:xfrm>
            <a:off x="6309359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unite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6181344" y="1445666"/>
            <a:ext cx="1197864" cy="1030528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Rectangle 652"/>
          <p:cNvSpPr/>
          <p:nvPr/>
        </p:nvSpPr>
        <p:spPr>
          <a:xfrm>
            <a:off x="6181344" y="1445666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TextBox 653"/>
          <p:cNvSpPr txBox="1"/>
          <p:nvPr/>
        </p:nvSpPr>
        <p:spPr>
          <a:xfrm>
            <a:off x="6199631" y="146212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ACTE_SANTE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6201460" y="158648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6309359" y="158648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6201460" y="164866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6309359" y="164866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6201460" y="171084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6309359" y="171084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intervenant_id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6201460" y="177302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6309359" y="177302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certificateur_id?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6201460" y="183520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4" name="TextBox 663"/>
          <p:cNvSpPr txBox="1"/>
          <p:nvPr/>
        </p:nvSpPr>
        <p:spPr>
          <a:xfrm>
            <a:off x="6309359" y="183520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6201460" y="189737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6" name="TextBox 665"/>
          <p:cNvSpPr txBox="1"/>
          <p:nvPr/>
        </p:nvSpPr>
        <p:spPr>
          <a:xfrm>
            <a:off x="6309359" y="189737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type_acte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6201460" y="195955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8" name="TextBox 667"/>
          <p:cNvSpPr txBox="1"/>
          <p:nvPr/>
        </p:nvSpPr>
        <p:spPr>
          <a:xfrm>
            <a:off x="6309359" y="195955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soin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6201460" y="202173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0" name="TextBox 669"/>
          <p:cNvSpPr txBox="1"/>
          <p:nvPr/>
        </p:nvSpPr>
        <p:spPr>
          <a:xfrm>
            <a:off x="6309359" y="202173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delai_retrait_jours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6201460" y="208391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2" name="TextBox 671"/>
          <p:cNvSpPr txBox="1"/>
          <p:nvPr/>
        </p:nvSpPr>
        <p:spPr>
          <a:xfrm>
            <a:off x="6309359" y="208391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debut_retrait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6201460" y="214609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4" name="TextBox 673"/>
          <p:cNvSpPr txBox="1"/>
          <p:nvPr/>
        </p:nvSpPr>
        <p:spPr>
          <a:xfrm>
            <a:off x="6309359" y="214609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fin_retrait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6201460" y="220827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6" name="TextBox 675"/>
          <p:cNvSpPr txBox="1"/>
          <p:nvPr/>
        </p:nvSpPr>
        <p:spPr>
          <a:xfrm>
            <a:off x="6309359" y="220827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statut_certification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6201460" y="227045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8" name="TextBox 677"/>
          <p:cNvSpPr txBox="1"/>
          <p:nvPr/>
        </p:nvSpPr>
        <p:spPr>
          <a:xfrm>
            <a:off x="6309359" y="227045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date_certification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6201460" y="233263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80" name="TextBox 679"/>
          <p:cNvSpPr txBox="1"/>
          <p:nvPr/>
        </p:nvSpPr>
        <p:spPr>
          <a:xfrm>
            <a:off x="6309359" y="233263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type_ferrure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6201460" y="239481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82" name="TextBox 681"/>
          <p:cNvSpPr txBox="1"/>
          <p:nvPr/>
        </p:nvSpPr>
        <p:spPr>
          <a:xfrm>
            <a:off x="6309359" y="239481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683" name="Rectangle 682"/>
          <p:cNvSpPr/>
          <p:nvPr/>
        </p:nvSpPr>
        <p:spPr>
          <a:xfrm>
            <a:off x="6181344" y="2653588"/>
            <a:ext cx="1197864" cy="657453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Rectangle 683"/>
          <p:cNvSpPr/>
          <p:nvPr/>
        </p:nvSpPr>
        <p:spPr>
          <a:xfrm>
            <a:off x="6181344" y="2653588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TextBox 684"/>
          <p:cNvSpPr txBox="1"/>
          <p:nvPr/>
        </p:nvSpPr>
        <p:spPr>
          <a:xfrm>
            <a:off x="6199631" y="2670048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PRESCRIPTION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6201460" y="279440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6309359" y="279440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6201460" y="285658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6309359" y="285658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6201460" y="291876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6309359" y="291876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prescripteur_id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6201460" y="298094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6309359" y="298094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6201460" y="304312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6309359" y="304312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ordonnance_id?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6201460" y="310530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97" name="TextBox 696"/>
          <p:cNvSpPr txBox="1"/>
          <p:nvPr/>
        </p:nvSpPr>
        <p:spPr>
          <a:xfrm>
            <a:off x="6309359" y="310530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date_prescription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6201460" y="31674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99" name="TextBox 698"/>
          <p:cNvSpPr txBox="1"/>
          <p:nvPr/>
        </p:nvSpPr>
        <p:spPr>
          <a:xfrm>
            <a:off x="6309359" y="31674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posologie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6201460" y="322966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01" name="TextBox 700"/>
          <p:cNvSpPr txBox="1"/>
          <p:nvPr/>
        </p:nvSpPr>
        <p:spPr>
          <a:xfrm>
            <a:off x="6309359" y="322966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duree_jours</a:t>
            </a:r>
          </a:p>
        </p:txBody>
      </p:sp>
      <p:sp>
        <p:nvSpPr>
          <p:cNvPr id="702" name="Rectangle 701"/>
          <p:cNvSpPr/>
          <p:nvPr/>
        </p:nvSpPr>
        <p:spPr>
          <a:xfrm>
            <a:off x="6181344" y="34884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Rectangle 702"/>
          <p:cNvSpPr/>
          <p:nvPr/>
        </p:nvSpPr>
        <p:spPr>
          <a:xfrm>
            <a:off x="6181344" y="3488436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4" name="TextBox 703"/>
          <p:cNvSpPr txBox="1"/>
          <p:nvPr/>
        </p:nvSpPr>
        <p:spPr>
          <a:xfrm>
            <a:off x="6199631" y="35048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EXAMEN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6201460" y="36292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6309359" y="36292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6201460" y="36914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6309359" y="36914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6201460" y="37536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10" name="TextBox 709"/>
          <p:cNvSpPr txBox="1"/>
          <p:nvPr/>
        </p:nvSpPr>
        <p:spPr>
          <a:xfrm>
            <a:off x="6309359" y="37536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membre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6201460" y="38157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12" name="TextBox 711"/>
          <p:cNvSpPr txBox="1"/>
          <p:nvPr/>
        </p:nvSpPr>
        <p:spPr>
          <a:xfrm>
            <a:off x="6309359" y="38157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score_boiterie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6201460" y="38779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14" name="TextBox 713"/>
          <p:cNvSpPr txBox="1"/>
          <p:nvPr/>
        </p:nvSpPr>
        <p:spPr>
          <a:xfrm>
            <a:off x="6309359" y="38779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sensibilite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6201460" y="39401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16" name="TextBox 715"/>
          <p:cNvSpPr txBox="1"/>
          <p:nvPr/>
        </p:nvSpPr>
        <p:spPr>
          <a:xfrm>
            <a:off x="6309359" y="39401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protocole_recommande</a:t>
            </a:r>
          </a:p>
        </p:txBody>
      </p:sp>
      <p:sp>
        <p:nvSpPr>
          <p:cNvPr id="717" name="Rectangle 716"/>
          <p:cNvSpPr/>
          <p:nvPr/>
        </p:nvSpPr>
        <p:spPr>
          <a:xfrm>
            <a:off x="6181344" y="4198924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Rectangle 717"/>
          <p:cNvSpPr/>
          <p:nvPr/>
        </p:nvSpPr>
        <p:spPr>
          <a:xfrm>
            <a:off x="6181344" y="4198924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TextBox 718"/>
          <p:cNvSpPr txBox="1"/>
          <p:nvPr/>
        </p:nvSpPr>
        <p:spPr>
          <a:xfrm>
            <a:off x="6199631" y="4215384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VACCINATION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6201460" y="433974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6309359" y="433974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6201460" y="440192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6309359" y="440192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6201460" y="446410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6309359" y="446410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vaccin_id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6201460" y="452628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27" name="TextBox 726"/>
          <p:cNvSpPr txBox="1"/>
          <p:nvPr/>
        </p:nvSpPr>
        <p:spPr>
          <a:xfrm>
            <a:off x="6309359" y="452628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date_prochain_rappel</a:t>
            </a:r>
          </a:p>
        </p:txBody>
      </p:sp>
      <p:sp>
        <p:nvSpPr>
          <p:cNvPr id="728" name="Rectangle 727"/>
          <p:cNvSpPr/>
          <p:nvPr/>
        </p:nvSpPr>
        <p:spPr>
          <a:xfrm>
            <a:off x="6181344" y="4785055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Rectangle 728"/>
          <p:cNvSpPr/>
          <p:nvPr/>
        </p:nvSpPr>
        <p:spPr>
          <a:xfrm>
            <a:off x="6181344" y="4785055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TextBox 729"/>
          <p:cNvSpPr txBox="1"/>
          <p:nvPr/>
        </p:nvSpPr>
        <p:spPr>
          <a:xfrm>
            <a:off x="6199631" y="4801514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6201460" y="492587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6309359" y="492587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6201460" y="498805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6309359" y="498805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6201460" y="505023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6309359" y="505023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6201460" y="511241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38" name="TextBox 737"/>
          <p:cNvSpPr txBox="1"/>
          <p:nvPr/>
        </p:nvSpPr>
        <p:spPr>
          <a:xfrm>
            <a:off x="6309359" y="511241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6201460" y="517458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40" name="TextBox 739"/>
          <p:cNvSpPr txBox="1"/>
          <p:nvPr/>
        </p:nvSpPr>
        <p:spPr>
          <a:xfrm>
            <a:off x="6309359" y="517458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dose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6201460" y="523676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42" name="TextBox 741"/>
          <p:cNvSpPr txBox="1"/>
          <p:nvPr/>
        </p:nvSpPr>
        <p:spPr>
          <a:xfrm>
            <a:off x="6309359" y="523676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unite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6201460" y="529894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44" name="TextBox 743"/>
          <p:cNvSpPr txBox="1"/>
          <p:nvPr/>
        </p:nvSpPr>
        <p:spPr>
          <a:xfrm>
            <a:off x="6309359" y="529894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voie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6181344" y="5557723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6" name="Rectangle 745"/>
          <p:cNvSpPr/>
          <p:nvPr/>
        </p:nvSpPr>
        <p:spPr>
          <a:xfrm>
            <a:off x="6181344" y="5557723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7" name="TextBox 746"/>
          <p:cNvSpPr txBox="1"/>
          <p:nvPr/>
        </p:nvSpPr>
        <p:spPr>
          <a:xfrm>
            <a:off x="6199631" y="5574182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ACTE_PRESCRIPTION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6201460" y="569854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6309359" y="569854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6201460" y="576072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6309359" y="576072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6201460" y="582289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6309359" y="582289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prescription_id</a:t>
            </a:r>
          </a:p>
        </p:txBody>
      </p:sp>
      <p:sp>
        <p:nvSpPr>
          <p:cNvPr id="754" name="Rectangle 753"/>
          <p:cNvSpPr/>
          <p:nvPr/>
        </p:nvSpPr>
        <p:spPr>
          <a:xfrm>
            <a:off x="6181344" y="6081674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Rectangle 754"/>
          <p:cNvSpPr/>
          <p:nvPr/>
        </p:nvSpPr>
        <p:spPr>
          <a:xfrm>
            <a:off x="6181344" y="6081674"/>
            <a:ext cx="1197864" cy="123444"/>
          </a:xfrm>
          <a:prstGeom prst="rect">
            <a:avLst/>
          </a:prstGeom>
          <a:solidFill>
            <a:srgbClr val="156082"/>
          </a:solidFill>
          <a:ln w="3175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TextBox 755"/>
          <p:cNvSpPr txBox="1"/>
          <p:nvPr/>
        </p:nvSpPr>
        <p:spPr>
          <a:xfrm>
            <a:off x="6199631" y="6098133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ACTE_DOCUMENT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62014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6309359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62014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6309359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62014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6309359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4695444" y="8595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ctangle 763"/>
          <p:cNvSpPr/>
          <p:nvPr/>
        </p:nvSpPr>
        <p:spPr>
          <a:xfrm>
            <a:off x="4695444" y="859536"/>
            <a:ext cx="1197864" cy="123444"/>
          </a:xfrm>
          <a:prstGeom prst="rect">
            <a:avLst/>
          </a:prstGeom>
          <a:solidFill>
            <a:srgbClr val="397D92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5" name="TextBox 764"/>
          <p:cNvSpPr txBox="1"/>
          <p:nvPr/>
        </p:nvSpPr>
        <p:spPr>
          <a:xfrm>
            <a:off x="4713731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LOT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47155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4823459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47155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4823459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47155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4823459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responsable_id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47155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73" name="TextBox 772"/>
          <p:cNvSpPr txBox="1"/>
          <p:nvPr/>
        </p:nvSpPr>
        <p:spPr>
          <a:xfrm>
            <a:off x="4823459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47155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75" name="TextBox 774"/>
          <p:cNvSpPr txBox="1"/>
          <p:nvPr/>
        </p:nvSpPr>
        <p:spPr>
          <a:xfrm>
            <a:off x="4823459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heure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47155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77" name="TextBox 776"/>
          <p:cNvSpPr txBox="1"/>
          <p:nvPr/>
        </p:nvSpPr>
        <p:spPr>
          <a:xfrm>
            <a:off x="4823459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778" name="Rectangle 777"/>
          <p:cNvSpPr/>
          <p:nvPr/>
        </p:nvSpPr>
        <p:spPr>
          <a:xfrm>
            <a:off x="4695444" y="2087346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Rectangle 778"/>
          <p:cNvSpPr/>
          <p:nvPr/>
        </p:nvSpPr>
        <p:spPr>
          <a:xfrm>
            <a:off x="4695444" y="2087346"/>
            <a:ext cx="1197864" cy="123444"/>
          </a:xfrm>
          <a:prstGeom prst="rect">
            <a:avLst/>
          </a:prstGeom>
          <a:solidFill>
            <a:srgbClr val="397D92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TextBox 779"/>
          <p:cNvSpPr txBox="1"/>
          <p:nvPr/>
        </p:nvSpPr>
        <p:spPr>
          <a:xfrm>
            <a:off x="4713731" y="210380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SEANCE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4715560" y="222816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4823459" y="222816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4715560" y="229034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4823459" y="229034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4715560" y="235252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4823459" y="235252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lot_id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4715560" y="241470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88" name="TextBox 787"/>
          <p:cNvSpPr txBox="1"/>
          <p:nvPr/>
        </p:nvSpPr>
        <p:spPr>
          <a:xfrm>
            <a:off x="4823459" y="241470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exercice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4715560" y="24768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90" name="TextBox 789"/>
          <p:cNvSpPr txBox="1"/>
          <p:nvPr/>
        </p:nvSpPr>
        <p:spPr>
          <a:xfrm>
            <a:off x="4823459" y="24768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travail_prevu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4715560" y="253906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92" name="TextBox 791"/>
          <p:cNvSpPr txBox="1"/>
          <p:nvPr/>
        </p:nvSpPr>
        <p:spPr>
          <a:xfrm>
            <a:off x="4823459" y="253906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travail_realise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4715560" y="260123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794" name="TextBox 793"/>
          <p:cNvSpPr txBox="1"/>
          <p:nvPr/>
        </p:nvSpPr>
        <p:spPr>
          <a:xfrm>
            <a:off x="4823459" y="260123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commentaire</a:t>
            </a:r>
          </a:p>
        </p:txBody>
      </p:sp>
      <p:sp>
        <p:nvSpPr>
          <p:cNvPr id="795" name="Rectangle 794"/>
          <p:cNvSpPr/>
          <p:nvPr/>
        </p:nvSpPr>
        <p:spPr>
          <a:xfrm>
            <a:off x="4695444" y="4605147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Rectangle 795"/>
          <p:cNvSpPr/>
          <p:nvPr/>
        </p:nvSpPr>
        <p:spPr>
          <a:xfrm>
            <a:off x="4695444" y="4605147"/>
            <a:ext cx="1197864" cy="123444"/>
          </a:xfrm>
          <a:prstGeom prst="rect">
            <a:avLst/>
          </a:prstGeom>
          <a:solidFill>
            <a:srgbClr val="397D92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TextBox 796"/>
          <p:cNvSpPr txBox="1"/>
          <p:nvPr/>
        </p:nvSpPr>
        <p:spPr>
          <a:xfrm>
            <a:off x="4713731" y="462160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AFFECTATION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4715560" y="474596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4823459" y="474596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4715560" y="480814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4823459" y="480814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seance_id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4715560" y="487032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4823459" y="487032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acteur_id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4715560" y="493250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05" name="TextBox 804"/>
          <p:cNvSpPr txBox="1"/>
          <p:nvPr/>
        </p:nvSpPr>
        <p:spPr>
          <a:xfrm>
            <a:off x="4823459" y="493250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4715560" y="49946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07" name="TextBox 806"/>
          <p:cNvSpPr txBox="1"/>
          <p:nvPr/>
        </p:nvSpPr>
        <p:spPr>
          <a:xfrm>
            <a:off x="4823459" y="49946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fonction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4715560" y="505686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09" name="TextBox 808"/>
          <p:cNvSpPr txBox="1"/>
          <p:nvPr/>
        </p:nvSpPr>
        <p:spPr>
          <a:xfrm>
            <a:off x="4823459" y="505686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consigne</a:t>
            </a:r>
          </a:p>
        </p:txBody>
      </p:sp>
      <p:sp>
        <p:nvSpPr>
          <p:cNvPr id="810" name="Rectangle 809"/>
          <p:cNvSpPr/>
          <p:nvPr/>
        </p:nvSpPr>
        <p:spPr>
          <a:xfrm>
            <a:off x="4695444" y="5832957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Rectangle 810"/>
          <p:cNvSpPr/>
          <p:nvPr/>
        </p:nvSpPr>
        <p:spPr>
          <a:xfrm>
            <a:off x="4695444" y="5832957"/>
            <a:ext cx="1197864" cy="123444"/>
          </a:xfrm>
          <a:prstGeom prst="rect">
            <a:avLst/>
          </a:prstGeom>
          <a:solidFill>
            <a:srgbClr val="397D92"/>
          </a:solidFill>
          <a:ln w="3175">
            <a:solidFill>
              <a:srgbClr val="39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TextBox 811"/>
          <p:cNvSpPr txBox="1"/>
          <p:nvPr/>
        </p:nvSpPr>
        <p:spPr>
          <a:xfrm>
            <a:off x="4713731" y="584941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RATION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4715560" y="597377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4823459" y="597377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4715560" y="60359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4823459" y="60359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4715560" y="60981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4823459" y="60981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47155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20" name="TextBox 819"/>
          <p:cNvSpPr txBox="1"/>
          <p:nvPr/>
        </p:nvSpPr>
        <p:spPr>
          <a:xfrm>
            <a:off x="4823459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7155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22" name="TextBox 821"/>
          <p:cNvSpPr txBox="1"/>
          <p:nvPr/>
        </p:nvSpPr>
        <p:spPr>
          <a:xfrm>
            <a:off x="4823459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repas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47155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24" name="TextBox 823"/>
          <p:cNvSpPr txBox="1"/>
          <p:nvPr/>
        </p:nvSpPr>
        <p:spPr>
          <a:xfrm>
            <a:off x="4823459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part_consommee</a:t>
            </a:r>
          </a:p>
        </p:txBody>
      </p:sp>
      <p:sp>
        <p:nvSpPr>
          <p:cNvPr id="825" name="TextBox 824"/>
          <p:cNvSpPr txBox="1"/>
          <p:nvPr/>
        </p:nvSpPr>
        <p:spPr>
          <a:xfrm>
            <a:off x="47155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397D92"/>
                </a:solidFill>
                <a:latin typeface="Aptos"/>
              </a:defRPr>
            </a:pPr>
            <a:endParaRPr/>
          </a:p>
        </p:txBody>
      </p:sp>
      <p:sp>
        <p:nvSpPr>
          <p:cNvPr id="826" name="TextBox 825"/>
          <p:cNvSpPr txBox="1"/>
          <p:nvPr/>
        </p:nvSpPr>
        <p:spPr>
          <a:xfrm>
            <a:off x="4823459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remarque</a:t>
            </a:r>
          </a:p>
        </p:txBody>
      </p:sp>
      <p:sp>
        <p:nvSpPr>
          <p:cNvPr id="827" name="Rectangle 826"/>
          <p:cNvSpPr/>
          <p:nvPr/>
        </p:nvSpPr>
        <p:spPr>
          <a:xfrm>
            <a:off x="7667244" y="859536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Rectangle 827"/>
          <p:cNvSpPr/>
          <p:nvPr/>
        </p:nvSpPr>
        <p:spPr>
          <a:xfrm>
            <a:off x="7667244" y="859536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9" name="TextBox 828"/>
          <p:cNvSpPr txBox="1"/>
          <p:nvPr/>
        </p:nvSpPr>
        <p:spPr>
          <a:xfrm>
            <a:off x="7685531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830" name="TextBox 829"/>
          <p:cNvSpPr txBox="1"/>
          <p:nvPr/>
        </p:nvSpPr>
        <p:spPr>
          <a:xfrm>
            <a:off x="76873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31" name="TextBox 830"/>
          <p:cNvSpPr txBox="1"/>
          <p:nvPr/>
        </p:nvSpPr>
        <p:spPr>
          <a:xfrm>
            <a:off x="77952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32" name="TextBox 831"/>
          <p:cNvSpPr txBox="1"/>
          <p:nvPr/>
        </p:nvSpPr>
        <p:spPr>
          <a:xfrm>
            <a:off x="76873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33" name="TextBox 832"/>
          <p:cNvSpPr txBox="1"/>
          <p:nvPr/>
        </p:nvSpPr>
        <p:spPr>
          <a:xfrm>
            <a:off x="77952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834" name="TextBox 833"/>
          <p:cNvSpPr txBox="1"/>
          <p:nvPr/>
        </p:nvSpPr>
        <p:spPr>
          <a:xfrm>
            <a:off x="76873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35" name="TextBox 834"/>
          <p:cNvSpPr txBox="1"/>
          <p:nvPr/>
        </p:nvSpPr>
        <p:spPr>
          <a:xfrm>
            <a:off x="77952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836" name="TextBox 835"/>
          <p:cNvSpPr txBox="1"/>
          <p:nvPr/>
        </p:nvSpPr>
        <p:spPr>
          <a:xfrm>
            <a:off x="76873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37" name="TextBox 836"/>
          <p:cNvSpPr txBox="1"/>
          <p:nvPr/>
        </p:nvSpPr>
        <p:spPr>
          <a:xfrm>
            <a:off x="77952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edition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76873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39" name="TextBox 838"/>
          <p:cNvSpPr txBox="1"/>
          <p:nvPr/>
        </p:nvSpPr>
        <p:spPr>
          <a:xfrm>
            <a:off x="7795260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hippodrome</a:t>
            </a:r>
          </a:p>
        </p:txBody>
      </p:sp>
      <p:sp>
        <p:nvSpPr>
          <p:cNvPr id="840" name="TextBox 839"/>
          <p:cNvSpPr txBox="1"/>
          <p:nvPr/>
        </p:nvSpPr>
        <p:spPr>
          <a:xfrm>
            <a:off x="76873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41" name="TextBox 840"/>
          <p:cNvSpPr txBox="1"/>
          <p:nvPr/>
        </p:nvSpPr>
        <p:spPr>
          <a:xfrm>
            <a:off x="7795260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pays</a:t>
            </a:r>
          </a:p>
        </p:txBody>
      </p:sp>
      <p:sp>
        <p:nvSpPr>
          <p:cNvPr id="842" name="TextBox 841"/>
          <p:cNvSpPr txBox="1"/>
          <p:nvPr/>
        </p:nvSpPr>
        <p:spPr>
          <a:xfrm>
            <a:off x="7687360" y="137342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43" name="TextBox 842"/>
          <p:cNvSpPr txBox="1"/>
          <p:nvPr/>
        </p:nvSpPr>
        <p:spPr>
          <a:xfrm>
            <a:off x="7795260" y="137342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844" name="Rectangle 843"/>
          <p:cNvSpPr/>
          <p:nvPr/>
        </p:nvSpPr>
        <p:spPr>
          <a:xfrm>
            <a:off x="7667244" y="1891527"/>
            <a:ext cx="1197864" cy="719632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5" name="Rectangle 844"/>
          <p:cNvSpPr/>
          <p:nvPr/>
        </p:nvSpPr>
        <p:spPr>
          <a:xfrm>
            <a:off x="7667244" y="1891527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TextBox 845"/>
          <p:cNvSpPr txBox="1"/>
          <p:nvPr/>
        </p:nvSpPr>
        <p:spPr>
          <a:xfrm>
            <a:off x="7685531" y="190798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847" name="TextBox 846"/>
          <p:cNvSpPr txBox="1"/>
          <p:nvPr/>
        </p:nvSpPr>
        <p:spPr>
          <a:xfrm>
            <a:off x="7687360" y="203234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48" name="TextBox 847"/>
          <p:cNvSpPr txBox="1"/>
          <p:nvPr/>
        </p:nvSpPr>
        <p:spPr>
          <a:xfrm>
            <a:off x="7795260" y="203234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49" name="TextBox 848"/>
          <p:cNvSpPr txBox="1"/>
          <p:nvPr/>
        </p:nvSpPr>
        <p:spPr>
          <a:xfrm>
            <a:off x="7687360" y="209452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50" name="TextBox 849"/>
          <p:cNvSpPr txBox="1"/>
          <p:nvPr/>
        </p:nvSpPr>
        <p:spPr>
          <a:xfrm>
            <a:off x="7795260" y="209452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851" name="TextBox 850"/>
          <p:cNvSpPr txBox="1"/>
          <p:nvPr/>
        </p:nvSpPr>
        <p:spPr>
          <a:xfrm>
            <a:off x="7687360" y="215670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52" name="TextBox 851"/>
          <p:cNvSpPr txBox="1"/>
          <p:nvPr/>
        </p:nvSpPr>
        <p:spPr>
          <a:xfrm>
            <a:off x="7795260" y="215670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course_id</a:t>
            </a:r>
          </a:p>
        </p:txBody>
      </p:sp>
      <p:sp>
        <p:nvSpPr>
          <p:cNvPr id="853" name="TextBox 852"/>
          <p:cNvSpPr txBox="1"/>
          <p:nvPr/>
        </p:nvSpPr>
        <p:spPr>
          <a:xfrm>
            <a:off x="7687360" y="221888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54" name="TextBox 853"/>
          <p:cNvSpPr txBox="1"/>
          <p:nvPr/>
        </p:nvSpPr>
        <p:spPr>
          <a:xfrm>
            <a:off x="7795260" y="221888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jockey_id?</a:t>
            </a:r>
          </a:p>
        </p:txBody>
      </p:sp>
      <p:sp>
        <p:nvSpPr>
          <p:cNvPr id="855" name="TextBox 854"/>
          <p:cNvSpPr txBox="1"/>
          <p:nvPr/>
        </p:nvSpPr>
        <p:spPr>
          <a:xfrm>
            <a:off x="7687360" y="228106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56" name="TextBox 855"/>
          <p:cNvSpPr txBox="1"/>
          <p:nvPr/>
        </p:nvSpPr>
        <p:spPr>
          <a:xfrm>
            <a:off x="7795260" y="228106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date_engagement</a:t>
            </a:r>
          </a:p>
        </p:txBody>
      </p:sp>
      <p:sp>
        <p:nvSpPr>
          <p:cNvPr id="857" name="TextBox 856"/>
          <p:cNvSpPr txBox="1"/>
          <p:nvPr/>
        </p:nvSpPr>
        <p:spPr>
          <a:xfrm>
            <a:off x="7687360" y="234324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58" name="TextBox 857"/>
          <p:cNvSpPr txBox="1"/>
          <p:nvPr/>
        </p:nvSpPr>
        <p:spPr>
          <a:xfrm>
            <a:off x="7795260" y="234324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859" name="TextBox 858"/>
          <p:cNvSpPr txBox="1"/>
          <p:nvPr/>
        </p:nvSpPr>
        <p:spPr>
          <a:xfrm>
            <a:off x="7687360" y="240542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60" name="TextBox 859"/>
          <p:cNvSpPr txBox="1"/>
          <p:nvPr/>
        </p:nvSpPr>
        <p:spPr>
          <a:xfrm>
            <a:off x="7795260" y="240542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cout</a:t>
            </a:r>
          </a:p>
        </p:txBody>
      </p:sp>
      <p:sp>
        <p:nvSpPr>
          <p:cNvPr id="861" name="TextBox 860"/>
          <p:cNvSpPr txBox="1"/>
          <p:nvPr/>
        </p:nvSpPr>
        <p:spPr>
          <a:xfrm>
            <a:off x="7687360" y="246759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62" name="TextBox 861"/>
          <p:cNvSpPr txBox="1"/>
          <p:nvPr/>
        </p:nvSpPr>
        <p:spPr>
          <a:xfrm>
            <a:off x="7795260" y="246759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resultat_controle</a:t>
            </a:r>
          </a:p>
        </p:txBody>
      </p:sp>
      <p:sp>
        <p:nvSpPr>
          <p:cNvPr id="863" name="TextBox 862"/>
          <p:cNvSpPr txBox="1"/>
          <p:nvPr/>
        </p:nvSpPr>
        <p:spPr>
          <a:xfrm>
            <a:off x="7687360" y="252977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64" name="TextBox 863"/>
          <p:cNvSpPr txBox="1"/>
          <p:nvPr/>
        </p:nvSpPr>
        <p:spPr>
          <a:xfrm>
            <a:off x="7795260" y="252977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date_controle</a:t>
            </a:r>
          </a:p>
        </p:txBody>
      </p:sp>
      <p:sp>
        <p:nvSpPr>
          <p:cNvPr id="865" name="Rectangle 864"/>
          <p:cNvSpPr/>
          <p:nvPr/>
        </p:nvSpPr>
        <p:spPr>
          <a:xfrm>
            <a:off x="7667244" y="3047878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6" name="Rectangle 865"/>
          <p:cNvSpPr/>
          <p:nvPr/>
        </p:nvSpPr>
        <p:spPr>
          <a:xfrm>
            <a:off x="7667244" y="3047878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7" name="TextBox 866"/>
          <p:cNvSpPr txBox="1"/>
          <p:nvPr/>
        </p:nvSpPr>
        <p:spPr>
          <a:xfrm>
            <a:off x="7685531" y="306433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RESULTAT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7687360" y="318869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7795260" y="318869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7687360" y="325087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7795260" y="325087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engagement_id!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7687360" y="33130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73" name="TextBox 872"/>
          <p:cNvSpPr txBox="1"/>
          <p:nvPr/>
        </p:nvSpPr>
        <p:spPr>
          <a:xfrm>
            <a:off x="7795260" y="33130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rang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7687360" y="33752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75" name="TextBox 874"/>
          <p:cNvSpPr txBox="1"/>
          <p:nvPr/>
        </p:nvSpPr>
        <p:spPr>
          <a:xfrm>
            <a:off x="7795260" y="33752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temps</a:t>
            </a:r>
          </a:p>
        </p:txBody>
      </p:sp>
      <p:sp>
        <p:nvSpPr>
          <p:cNvPr id="876" name="TextBox 875"/>
          <p:cNvSpPr txBox="1"/>
          <p:nvPr/>
        </p:nvSpPr>
        <p:spPr>
          <a:xfrm>
            <a:off x="7687360" y="34374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77" name="TextBox 876"/>
          <p:cNvSpPr txBox="1"/>
          <p:nvPr/>
        </p:nvSpPr>
        <p:spPr>
          <a:xfrm>
            <a:off x="7795260" y="34374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commentaire</a:t>
            </a:r>
          </a:p>
        </p:txBody>
      </p:sp>
      <p:sp>
        <p:nvSpPr>
          <p:cNvPr id="878" name="Rectangle 877"/>
          <p:cNvSpPr/>
          <p:nvPr/>
        </p:nvSpPr>
        <p:spPr>
          <a:xfrm>
            <a:off x="7667244" y="3955511"/>
            <a:ext cx="1197864" cy="657453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9" name="Rectangle 878"/>
          <p:cNvSpPr/>
          <p:nvPr/>
        </p:nvSpPr>
        <p:spPr>
          <a:xfrm>
            <a:off x="7667244" y="3955511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0" name="TextBox 879"/>
          <p:cNvSpPr txBox="1"/>
          <p:nvPr/>
        </p:nvSpPr>
        <p:spPr>
          <a:xfrm>
            <a:off x="7685531" y="3971970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881" name="TextBox 880"/>
          <p:cNvSpPr txBox="1"/>
          <p:nvPr/>
        </p:nvSpPr>
        <p:spPr>
          <a:xfrm>
            <a:off x="7687360" y="409632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82" name="TextBox 881"/>
          <p:cNvSpPr txBox="1"/>
          <p:nvPr/>
        </p:nvSpPr>
        <p:spPr>
          <a:xfrm>
            <a:off x="7795260" y="409632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83" name="TextBox 882"/>
          <p:cNvSpPr txBox="1"/>
          <p:nvPr/>
        </p:nvSpPr>
        <p:spPr>
          <a:xfrm>
            <a:off x="7687360" y="415850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84" name="TextBox 883"/>
          <p:cNvSpPr txBox="1"/>
          <p:nvPr/>
        </p:nvSpPr>
        <p:spPr>
          <a:xfrm>
            <a:off x="7795260" y="415850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transporteur_id</a:t>
            </a:r>
          </a:p>
        </p:txBody>
      </p:sp>
      <p:sp>
        <p:nvSpPr>
          <p:cNvPr id="885" name="TextBox 884"/>
          <p:cNvSpPr txBox="1"/>
          <p:nvPr/>
        </p:nvSpPr>
        <p:spPr>
          <a:xfrm>
            <a:off x="7687360" y="422068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86" name="TextBox 885"/>
          <p:cNvSpPr txBox="1"/>
          <p:nvPr/>
        </p:nvSpPr>
        <p:spPr>
          <a:xfrm>
            <a:off x="7795260" y="422068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lieu_depart_id?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7687360" y="428286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88" name="TextBox 887"/>
          <p:cNvSpPr txBox="1"/>
          <p:nvPr/>
        </p:nvSpPr>
        <p:spPr>
          <a:xfrm>
            <a:off x="7795260" y="428286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lieu_arrivee_id?</a:t>
            </a:r>
          </a:p>
        </p:txBody>
      </p:sp>
      <p:sp>
        <p:nvSpPr>
          <p:cNvPr id="889" name="TextBox 888"/>
          <p:cNvSpPr txBox="1"/>
          <p:nvPr/>
        </p:nvSpPr>
        <p:spPr>
          <a:xfrm>
            <a:off x="7687360" y="434504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90" name="TextBox 889"/>
          <p:cNvSpPr txBox="1"/>
          <p:nvPr/>
        </p:nvSpPr>
        <p:spPr>
          <a:xfrm>
            <a:off x="7795260" y="434504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date_depart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7687360" y="440722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92" name="TextBox 891"/>
          <p:cNvSpPr txBox="1"/>
          <p:nvPr/>
        </p:nvSpPr>
        <p:spPr>
          <a:xfrm>
            <a:off x="7795260" y="440722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date_arrivee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7687360" y="446940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94" name="TextBox 893"/>
          <p:cNvSpPr txBox="1"/>
          <p:nvPr/>
        </p:nvSpPr>
        <p:spPr>
          <a:xfrm>
            <a:off x="7795260" y="446940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895" name="TextBox 894"/>
          <p:cNvSpPr txBox="1"/>
          <p:nvPr/>
        </p:nvSpPr>
        <p:spPr>
          <a:xfrm>
            <a:off x="7687360" y="453158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896" name="TextBox 895"/>
          <p:cNvSpPr txBox="1"/>
          <p:nvPr/>
        </p:nvSpPr>
        <p:spPr>
          <a:xfrm>
            <a:off x="7795260" y="453158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consignes</a:t>
            </a:r>
          </a:p>
        </p:txBody>
      </p:sp>
      <p:sp>
        <p:nvSpPr>
          <p:cNvPr id="897" name="Rectangle 896"/>
          <p:cNvSpPr/>
          <p:nvPr/>
        </p:nvSpPr>
        <p:spPr>
          <a:xfrm>
            <a:off x="7667244" y="5049682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Rectangle 897"/>
          <p:cNvSpPr/>
          <p:nvPr/>
        </p:nvSpPr>
        <p:spPr>
          <a:xfrm>
            <a:off x="7667244" y="5049682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9" name="TextBox 898"/>
          <p:cNvSpPr txBox="1"/>
          <p:nvPr/>
        </p:nvSpPr>
        <p:spPr>
          <a:xfrm>
            <a:off x="7685531" y="5066141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PRISE_EN_CHARGE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7687360" y="519050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7795260" y="519050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7687360" y="525267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7795260" y="525267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7687360" y="531485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795260" y="531485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transport_id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7687360" y="537703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7795260" y="537703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lieu_prise_id?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687360" y="543921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7795260" y="543921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lieu_depose_id?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687360" y="550139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7795260" y="550139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heure_prise_en_charge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7687360" y="556357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endParaRPr/>
          </a:p>
        </p:txBody>
      </p:sp>
      <p:sp>
        <p:nvSpPr>
          <p:cNvPr id="913" name="TextBox 912"/>
          <p:cNvSpPr txBox="1"/>
          <p:nvPr/>
        </p:nvSpPr>
        <p:spPr>
          <a:xfrm>
            <a:off x="7795260" y="556357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heure_depose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7667244" y="6081674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/>
          <p:cNvSpPr/>
          <p:nvPr/>
        </p:nvSpPr>
        <p:spPr>
          <a:xfrm>
            <a:off x="7667244" y="6081674"/>
            <a:ext cx="1197864" cy="123444"/>
          </a:xfrm>
          <a:prstGeom prst="rect">
            <a:avLst/>
          </a:prstGeom>
          <a:solidFill>
            <a:srgbClr val="9B5B27"/>
          </a:solidFill>
          <a:ln w="3175">
            <a:solidFill>
              <a:srgbClr val="9B5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TextBox 915"/>
          <p:cNvSpPr txBox="1"/>
          <p:nvPr/>
        </p:nvSpPr>
        <p:spPr>
          <a:xfrm>
            <a:off x="7685531" y="6098133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ENGAGEMENT_TRANSPORT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76873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7795260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76873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77952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engagement_id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76873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9B5B27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7952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transport_id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1723644" y="859536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Rectangle 923"/>
          <p:cNvSpPr/>
          <p:nvPr/>
        </p:nvSpPr>
        <p:spPr>
          <a:xfrm>
            <a:off x="1723644" y="859536"/>
            <a:ext cx="1197864" cy="123444"/>
          </a:xfrm>
          <a:prstGeom prst="rect">
            <a:avLst/>
          </a:prstGeom>
          <a:solidFill>
            <a:srgbClr val="7357A3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TextBox 924"/>
          <p:cNvSpPr txBox="1"/>
          <p:nvPr/>
        </p:nvSpPr>
        <p:spPr>
          <a:xfrm>
            <a:off x="1741932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EMPLOYE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17437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18516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17437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8516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acteur_id!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17437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31" name="TextBox 930"/>
          <p:cNvSpPr txBox="1"/>
          <p:nvPr/>
        </p:nvSpPr>
        <p:spPr>
          <a:xfrm>
            <a:off x="18516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matricule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17437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33" name="TextBox 932"/>
          <p:cNvSpPr txBox="1"/>
          <p:nvPr/>
        </p:nvSpPr>
        <p:spPr>
          <a:xfrm>
            <a:off x="18516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poste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17437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35" name="TextBox 934"/>
          <p:cNvSpPr txBox="1"/>
          <p:nvPr/>
        </p:nvSpPr>
        <p:spPr>
          <a:xfrm>
            <a:off x="1851660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contrat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17437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37" name="TextBox 936"/>
          <p:cNvSpPr txBox="1"/>
          <p:nvPr/>
        </p:nvSpPr>
        <p:spPr>
          <a:xfrm>
            <a:off x="1851660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date_entree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1743760" y="137342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39" name="TextBox 938"/>
          <p:cNvSpPr txBox="1"/>
          <p:nvPr/>
        </p:nvSpPr>
        <p:spPr>
          <a:xfrm>
            <a:off x="1851660" y="137342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date_sortie</a:t>
            </a:r>
          </a:p>
        </p:txBody>
      </p:sp>
      <p:sp>
        <p:nvSpPr>
          <p:cNvPr id="940" name="Rectangle 939"/>
          <p:cNvSpPr/>
          <p:nvPr/>
        </p:nvSpPr>
        <p:spPr>
          <a:xfrm>
            <a:off x="1723644" y="1953707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1" name="Rectangle 940"/>
          <p:cNvSpPr/>
          <p:nvPr/>
        </p:nvSpPr>
        <p:spPr>
          <a:xfrm>
            <a:off x="1723644" y="1953707"/>
            <a:ext cx="1197864" cy="123444"/>
          </a:xfrm>
          <a:prstGeom prst="rect">
            <a:avLst/>
          </a:prstGeom>
          <a:solidFill>
            <a:srgbClr val="7357A3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TextBox 941"/>
          <p:cNvSpPr txBox="1"/>
          <p:nvPr/>
        </p:nvSpPr>
        <p:spPr>
          <a:xfrm>
            <a:off x="1741932" y="197016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CRENEAU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1743760" y="209452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1851660" y="209452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1743760" y="215670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1851660" y="215670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lieu_id?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1743760" y="221888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48" name="TextBox 947"/>
          <p:cNvSpPr txBox="1"/>
          <p:nvPr/>
        </p:nvSpPr>
        <p:spPr>
          <a:xfrm>
            <a:off x="1851660" y="221888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debut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1743760" y="228106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50" name="TextBox 949"/>
          <p:cNvSpPr txBox="1"/>
          <p:nvPr/>
        </p:nvSpPr>
        <p:spPr>
          <a:xfrm>
            <a:off x="1851660" y="228106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fin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1743760" y="234324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52" name="TextBox 951"/>
          <p:cNvSpPr txBox="1"/>
          <p:nvPr/>
        </p:nvSpPr>
        <p:spPr>
          <a:xfrm>
            <a:off x="1851660" y="234324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activite</a:t>
            </a:r>
          </a:p>
        </p:txBody>
      </p:sp>
      <p:sp>
        <p:nvSpPr>
          <p:cNvPr id="953" name="Rectangle 952"/>
          <p:cNvSpPr/>
          <p:nvPr/>
        </p:nvSpPr>
        <p:spPr>
          <a:xfrm>
            <a:off x="1723644" y="3831153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Rectangle 953"/>
          <p:cNvSpPr/>
          <p:nvPr/>
        </p:nvSpPr>
        <p:spPr>
          <a:xfrm>
            <a:off x="1723644" y="3831153"/>
            <a:ext cx="1197864" cy="123444"/>
          </a:xfrm>
          <a:prstGeom prst="rect">
            <a:avLst/>
          </a:prstGeom>
          <a:solidFill>
            <a:srgbClr val="7357A3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5" name="TextBox 954"/>
          <p:cNvSpPr txBox="1"/>
          <p:nvPr/>
        </p:nvSpPr>
        <p:spPr>
          <a:xfrm>
            <a:off x="1741932" y="3847612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EMPLOYE_CRENEAU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1743760" y="39719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1851660" y="39719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1743760" y="40341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1851660" y="40341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1743760" y="409632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1851660" y="409632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creneau_id</a:t>
            </a:r>
          </a:p>
        </p:txBody>
      </p:sp>
      <p:sp>
        <p:nvSpPr>
          <p:cNvPr id="962" name="Rectangle 961"/>
          <p:cNvSpPr/>
          <p:nvPr/>
        </p:nvSpPr>
        <p:spPr>
          <a:xfrm>
            <a:off x="1723644" y="4676607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3" name="Rectangle 962"/>
          <p:cNvSpPr/>
          <p:nvPr/>
        </p:nvSpPr>
        <p:spPr>
          <a:xfrm>
            <a:off x="1723644" y="4676607"/>
            <a:ext cx="1197864" cy="123444"/>
          </a:xfrm>
          <a:prstGeom prst="rect">
            <a:avLst/>
          </a:prstGeom>
          <a:solidFill>
            <a:srgbClr val="7357A3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4" name="TextBox 963"/>
          <p:cNvSpPr txBox="1"/>
          <p:nvPr/>
        </p:nvSpPr>
        <p:spPr>
          <a:xfrm>
            <a:off x="1741932" y="469306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POINTAGE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1743760" y="481742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1851660" y="481742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1743760" y="487960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1851660" y="487960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1743760" y="494178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1851660" y="494178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correcteur_id?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1743760" y="500396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72" name="TextBox 971"/>
          <p:cNvSpPr txBox="1"/>
          <p:nvPr/>
        </p:nvSpPr>
        <p:spPr>
          <a:xfrm>
            <a:off x="1851660" y="500396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heure_entree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1743760" y="506614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74" name="TextBox 973"/>
          <p:cNvSpPr txBox="1"/>
          <p:nvPr/>
        </p:nvSpPr>
        <p:spPr>
          <a:xfrm>
            <a:off x="1851660" y="506614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heure_sortie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1743760" y="512832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1851660" y="512832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duree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1743760" y="519050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78" name="TextBox 977"/>
          <p:cNvSpPr txBox="1"/>
          <p:nvPr/>
        </p:nvSpPr>
        <p:spPr>
          <a:xfrm>
            <a:off x="1851660" y="519050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motif_correction</a:t>
            </a:r>
          </a:p>
        </p:txBody>
      </p:sp>
      <p:sp>
        <p:nvSpPr>
          <p:cNvPr id="979" name="Rectangle 978"/>
          <p:cNvSpPr/>
          <p:nvPr/>
        </p:nvSpPr>
        <p:spPr>
          <a:xfrm>
            <a:off x="1723644" y="5770778"/>
            <a:ext cx="1197864" cy="657453"/>
          </a:xfrm>
          <a:prstGeom prst="rect">
            <a:avLst/>
          </a:prstGeom>
          <a:solidFill>
            <a:srgbClr val="FFFFFF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Rectangle 979"/>
          <p:cNvSpPr/>
          <p:nvPr/>
        </p:nvSpPr>
        <p:spPr>
          <a:xfrm>
            <a:off x="1723644" y="5770778"/>
            <a:ext cx="1197864" cy="123444"/>
          </a:xfrm>
          <a:prstGeom prst="rect">
            <a:avLst/>
          </a:prstGeom>
          <a:solidFill>
            <a:srgbClr val="7357A3"/>
          </a:solidFill>
          <a:ln w="3175">
            <a:solidFill>
              <a:srgbClr val="735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1" name="TextBox 980"/>
          <p:cNvSpPr txBox="1"/>
          <p:nvPr/>
        </p:nvSpPr>
        <p:spPr>
          <a:xfrm>
            <a:off x="1741932" y="578723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ABSENCE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1743760" y="591159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1851660" y="591159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1743760" y="597377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1851660" y="597377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1743760" y="60359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1851660" y="60359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validateur_id?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1743760" y="60981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89" name="TextBox 988"/>
          <p:cNvSpPr txBox="1"/>
          <p:nvPr/>
        </p:nvSpPr>
        <p:spPr>
          <a:xfrm>
            <a:off x="1851660" y="60981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debut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17437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91" name="TextBox 990"/>
          <p:cNvSpPr txBox="1"/>
          <p:nvPr/>
        </p:nvSpPr>
        <p:spPr>
          <a:xfrm>
            <a:off x="1851660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fin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17437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93" name="TextBox 992"/>
          <p:cNvSpPr txBox="1"/>
          <p:nvPr/>
        </p:nvSpPr>
        <p:spPr>
          <a:xfrm>
            <a:off x="1851660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type_absence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17437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95" name="TextBox 994"/>
          <p:cNvSpPr txBox="1"/>
          <p:nvPr/>
        </p:nvSpPr>
        <p:spPr>
          <a:xfrm>
            <a:off x="18516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17437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57A3"/>
                </a:solidFill>
                <a:latin typeface="Aptos"/>
              </a:defRPr>
            </a:pPr>
            <a:endParaRPr/>
          </a:p>
        </p:txBody>
      </p:sp>
      <p:sp>
        <p:nvSpPr>
          <p:cNvPr id="997" name="TextBox 996"/>
          <p:cNvSpPr txBox="1"/>
          <p:nvPr/>
        </p:nvSpPr>
        <p:spPr>
          <a:xfrm>
            <a:off x="18516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date_validation</a:t>
            </a:r>
          </a:p>
        </p:txBody>
      </p:sp>
      <p:sp>
        <p:nvSpPr>
          <p:cNvPr id="998" name="Rectangle 997"/>
          <p:cNvSpPr/>
          <p:nvPr/>
        </p:nvSpPr>
        <p:spPr>
          <a:xfrm>
            <a:off x="9153144" y="859536"/>
            <a:ext cx="1197864" cy="657453"/>
          </a:xfrm>
          <a:prstGeom prst="rect">
            <a:avLst/>
          </a:prstGeom>
          <a:solidFill>
            <a:srgbClr val="FFFFFF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9" name="Rectangle 998"/>
          <p:cNvSpPr/>
          <p:nvPr/>
        </p:nvSpPr>
        <p:spPr>
          <a:xfrm>
            <a:off x="9153144" y="859536"/>
            <a:ext cx="1197864" cy="123444"/>
          </a:xfrm>
          <a:prstGeom prst="rect">
            <a:avLst/>
          </a:prstGeom>
          <a:solidFill>
            <a:srgbClr val="B84C5C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TextBox 999"/>
          <p:cNvSpPr txBox="1"/>
          <p:nvPr/>
        </p:nvSpPr>
        <p:spPr>
          <a:xfrm>
            <a:off x="9171432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EVENEMENT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91732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92811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91732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92811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91732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92811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91732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92811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91732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9281160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type_evenement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91732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12" name="TextBox 1011"/>
          <p:cNvSpPr txBox="1"/>
          <p:nvPr/>
        </p:nvSpPr>
        <p:spPr>
          <a:xfrm>
            <a:off x="9281160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texte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9173260" y="137342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9281160" y="137342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9173260" y="143560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9281160" y="143560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statut_validation</a:t>
            </a:r>
          </a:p>
        </p:txBody>
      </p:sp>
      <p:sp>
        <p:nvSpPr>
          <p:cNvPr id="1017" name="Rectangle 1016"/>
          <p:cNvSpPr/>
          <p:nvPr/>
        </p:nvSpPr>
        <p:spPr>
          <a:xfrm>
            <a:off x="9153144" y="2289429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ectangle 1017"/>
          <p:cNvSpPr/>
          <p:nvPr/>
        </p:nvSpPr>
        <p:spPr>
          <a:xfrm>
            <a:off x="9153144" y="2289429"/>
            <a:ext cx="1197864" cy="123444"/>
          </a:xfrm>
          <a:prstGeom prst="rect">
            <a:avLst/>
          </a:prstGeom>
          <a:solidFill>
            <a:srgbClr val="B84C5C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9171432" y="2305888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9173260" y="243024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9281160" y="243024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9173260" y="249242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23" name="TextBox 1022"/>
          <p:cNvSpPr txBox="1"/>
          <p:nvPr/>
        </p:nvSpPr>
        <p:spPr>
          <a:xfrm>
            <a:off x="9281160" y="249242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type_document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9173260" y="255460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25" name="TextBox 1024"/>
          <p:cNvSpPr txBox="1"/>
          <p:nvPr/>
        </p:nvSpPr>
        <p:spPr>
          <a:xfrm>
            <a:off x="9281160" y="255460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date_document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9173260" y="261678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9281160" y="261678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uri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9173260" y="267896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29" name="TextBox 1028"/>
          <p:cNvSpPr txBox="1"/>
          <p:nvPr/>
        </p:nvSpPr>
        <p:spPr>
          <a:xfrm>
            <a:off x="9281160" y="267896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1030" name="Rectangle 1029"/>
          <p:cNvSpPr/>
          <p:nvPr/>
        </p:nvSpPr>
        <p:spPr>
          <a:xfrm>
            <a:off x="9153144" y="3532784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Rectangle 1030"/>
          <p:cNvSpPr/>
          <p:nvPr/>
        </p:nvSpPr>
        <p:spPr>
          <a:xfrm>
            <a:off x="9153144" y="3532784"/>
            <a:ext cx="1197864" cy="123444"/>
          </a:xfrm>
          <a:prstGeom prst="rect">
            <a:avLst/>
          </a:prstGeom>
          <a:solidFill>
            <a:srgbClr val="B84C5C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extBox 1031"/>
          <p:cNvSpPr txBox="1"/>
          <p:nvPr/>
        </p:nvSpPr>
        <p:spPr>
          <a:xfrm>
            <a:off x="9171432" y="3549243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EVENEMENT_DOCUMENT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9173260" y="367360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9281160" y="367360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9173260" y="37357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9281160" y="37357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evenement_id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9173260" y="379796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9281160" y="379796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</a:p>
        </p:txBody>
      </p:sp>
      <p:sp>
        <p:nvSpPr>
          <p:cNvPr id="1039" name="Rectangle 1038"/>
          <p:cNvSpPr/>
          <p:nvPr/>
        </p:nvSpPr>
        <p:spPr>
          <a:xfrm>
            <a:off x="9153144" y="4651781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Rectangle 1039"/>
          <p:cNvSpPr/>
          <p:nvPr/>
        </p:nvSpPr>
        <p:spPr>
          <a:xfrm>
            <a:off x="9153144" y="4651781"/>
            <a:ext cx="1197864" cy="123444"/>
          </a:xfrm>
          <a:prstGeom prst="rect">
            <a:avLst/>
          </a:prstGeom>
          <a:solidFill>
            <a:srgbClr val="B84C5C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TextBox 1040"/>
          <p:cNvSpPr txBox="1"/>
          <p:nvPr/>
        </p:nvSpPr>
        <p:spPr>
          <a:xfrm>
            <a:off x="9171432" y="4668240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173260" y="479259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9281160" y="479259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9173260" y="485477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9281160" y="485477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evenement_id?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9173260" y="491695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47" name="TextBox 1046"/>
          <p:cNvSpPr txBox="1"/>
          <p:nvPr/>
        </p:nvSpPr>
        <p:spPr>
          <a:xfrm>
            <a:off x="9281160" y="491695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date_creation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9173260" y="497913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49" name="TextBox 1048"/>
          <p:cNvSpPr txBox="1"/>
          <p:nvPr/>
        </p:nvSpPr>
        <p:spPr>
          <a:xfrm>
            <a:off x="9281160" y="497913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objet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9173260" y="504131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51" name="TextBox 1050"/>
          <p:cNvSpPr txBox="1"/>
          <p:nvPr/>
        </p:nvSpPr>
        <p:spPr>
          <a:xfrm>
            <a:off x="9281160" y="504131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priorite</a:t>
            </a:r>
          </a:p>
        </p:txBody>
      </p:sp>
      <p:sp>
        <p:nvSpPr>
          <p:cNvPr id="1052" name="Rectangle 1051"/>
          <p:cNvSpPr/>
          <p:nvPr/>
        </p:nvSpPr>
        <p:spPr>
          <a:xfrm>
            <a:off x="9153144" y="58951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ctangle 1052"/>
          <p:cNvSpPr/>
          <p:nvPr/>
        </p:nvSpPr>
        <p:spPr>
          <a:xfrm>
            <a:off x="9153144" y="5895136"/>
            <a:ext cx="1197864" cy="123444"/>
          </a:xfrm>
          <a:prstGeom prst="rect">
            <a:avLst/>
          </a:prstGeom>
          <a:solidFill>
            <a:srgbClr val="B84C5C"/>
          </a:solidFill>
          <a:ln w="3175">
            <a:solidFill>
              <a:srgbClr val="B8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TextBox 1053"/>
          <p:cNvSpPr txBox="1"/>
          <p:nvPr/>
        </p:nvSpPr>
        <p:spPr>
          <a:xfrm>
            <a:off x="9171432" y="591159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RECEPTION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9173260" y="60359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9281160" y="60359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9173260" y="60981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9281160" y="60981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notification_id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91732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9281160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91732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62" name="TextBox 1061"/>
          <p:cNvSpPr txBox="1"/>
          <p:nvPr/>
        </p:nvSpPr>
        <p:spPr>
          <a:xfrm>
            <a:off x="9281160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date_envoi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91732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64" name="TextBox 1063"/>
          <p:cNvSpPr txBox="1"/>
          <p:nvPr/>
        </p:nvSpPr>
        <p:spPr>
          <a:xfrm>
            <a:off x="92811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date_lecture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91732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B84C5C"/>
                </a:solidFill>
                <a:latin typeface="Aptos"/>
              </a:defRPr>
            </a:pPr>
            <a:endParaRPr/>
          </a:p>
        </p:txBody>
      </p:sp>
      <p:sp>
        <p:nvSpPr>
          <p:cNvPr id="1066" name="TextBox 1065"/>
          <p:cNvSpPr txBox="1"/>
          <p:nvPr/>
        </p:nvSpPr>
        <p:spPr>
          <a:xfrm>
            <a:off x="92811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10639044" y="859536"/>
            <a:ext cx="1197864" cy="595274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Rectangle 1067"/>
          <p:cNvSpPr/>
          <p:nvPr/>
        </p:nvSpPr>
        <p:spPr>
          <a:xfrm>
            <a:off x="10639044" y="859536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TextBox 1068"/>
          <p:cNvSpPr txBox="1"/>
          <p:nvPr/>
        </p:nvSpPr>
        <p:spPr>
          <a:xfrm>
            <a:off x="10657332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FACTURE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106591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07670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106591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107670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106591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107670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06591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77" name="TextBox 1076"/>
          <p:cNvSpPr txBox="1"/>
          <p:nvPr/>
        </p:nvSpPr>
        <p:spPr>
          <a:xfrm>
            <a:off x="107670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numero</a:t>
            </a:r>
          </a:p>
        </p:txBody>
      </p:sp>
      <p:sp>
        <p:nvSpPr>
          <p:cNvPr id="1078" name="TextBox 1077"/>
          <p:cNvSpPr txBox="1"/>
          <p:nvPr/>
        </p:nvSpPr>
        <p:spPr>
          <a:xfrm>
            <a:off x="10659160" y="124907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79" name="TextBox 1078"/>
          <p:cNvSpPr txBox="1"/>
          <p:nvPr/>
        </p:nvSpPr>
        <p:spPr>
          <a:xfrm>
            <a:off x="10767060" y="124907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date_emission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10659160" y="131124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81" name="TextBox 1080"/>
          <p:cNvSpPr txBox="1"/>
          <p:nvPr/>
        </p:nvSpPr>
        <p:spPr>
          <a:xfrm>
            <a:off x="10767060" y="131124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date_echeance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10659160" y="137342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83" name="TextBox 1082"/>
          <p:cNvSpPr txBox="1"/>
          <p:nvPr/>
        </p:nvSpPr>
        <p:spPr>
          <a:xfrm>
            <a:off x="10767060" y="137342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1084" name="Rectangle 1083"/>
          <p:cNvSpPr/>
          <p:nvPr/>
        </p:nvSpPr>
        <p:spPr>
          <a:xfrm>
            <a:off x="10639044" y="1966142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Rectangle 1084"/>
          <p:cNvSpPr/>
          <p:nvPr/>
        </p:nvSpPr>
        <p:spPr>
          <a:xfrm>
            <a:off x="10639044" y="1966142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TextBox 1085"/>
          <p:cNvSpPr txBox="1"/>
          <p:nvPr/>
        </p:nvSpPr>
        <p:spPr>
          <a:xfrm>
            <a:off x="10657332" y="1982602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LIGNE_FACTURE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10659160" y="210696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10767060" y="210696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10659160" y="2169139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10767060" y="2169139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10659160" y="223131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92" name="TextBox 1091"/>
          <p:cNvSpPr txBox="1"/>
          <p:nvPr/>
        </p:nvSpPr>
        <p:spPr>
          <a:xfrm>
            <a:off x="10767060" y="223131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10659160" y="229349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94" name="TextBox 1093"/>
          <p:cNvSpPr txBox="1"/>
          <p:nvPr/>
        </p:nvSpPr>
        <p:spPr>
          <a:xfrm>
            <a:off x="10767060" y="229349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quantite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10659160" y="235567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96" name="TextBox 1095"/>
          <p:cNvSpPr txBox="1"/>
          <p:nvPr/>
        </p:nvSpPr>
        <p:spPr>
          <a:xfrm>
            <a:off x="10767060" y="235567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prix_unitaire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10659160" y="241785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098" name="TextBox 1097"/>
          <p:cNvSpPr txBox="1"/>
          <p:nvPr/>
        </p:nvSpPr>
        <p:spPr>
          <a:xfrm>
            <a:off x="10767060" y="241785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taux_taxe</a:t>
            </a:r>
          </a:p>
        </p:txBody>
      </p:sp>
      <p:sp>
        <p:nvSpPr>
          <p:cNvPr id="1099" name="Rectangle 1098"/>
          <p:cNvSpPr/>
          <p:nvPr/>
        </p:nvSpPr>
        <p:spPr>
          <a:xfrm>
            <a:off x="10639044" y="3010570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Rectangle 1099"/>
          <p:cNvSpPr/>
          <p:nvPr/>
        </p:nvSpPr>
        <p:spPr>
          <a:xfrm>
            <a:off x="10639044" y="3010570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TextBox 1100"/>
          <p:cNvSpPr txBox="1"/>
          <p:nvPr/>
        </p:nvSpPr>
        <p:spPr>
          <a:xfrm>
            <a:off x="10657332" y="3027029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PRESTATION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10659160" y="315138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03" name="TextBox 1102"/>
          <p:cNvSpPr txBox="1"/>
          <p:nvPr/>
        </p:nvSpPr>
        <p:spPr>
          <a:xfrm>
            <a:off x="10767060" y="315138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10659160" y="321356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05" name="TextBox 1104"/>
          <p:cNvSpPr txBox="1"/>
          <p:nvPr/>
        </p:nvSpPr>
        <p:spPr>
          <a:xfrm>
            <a:off x="10767060" y="321356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1106" name="TextBox 1105"/>
          <p:cNvSpPr txBox="1"/>
          <p:nvPr/>
        </p:nvSpPr>
        <p:spPr>
          <a:xfrm>
            <a:off x="10659160" y="327574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10767060" y="327574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justificatif_id?</a:t>
            </a:r>
          </a:p>
        </p:txBody>
      </p:sp>
      <p:sp>
        <p:nvSpPr>
          <p:cNvPr id="1108" name="TextBox 1107"/>
          <p:cNvSpPr txBox="1"/>
          <p:nvPr/>
        </p:nvSpPr>
        <p:spPr>
          <a:xfrm>
            <a:off x="10659160" y="333792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09" name="TextBox 1108"/>
          <p:cNvSpPr txBox="1"/>
          <p:nvPr/>
        </p:nvSpPr>
        <p:spPr>
          <a:xfrm>
            <a:off x="10767060" y="333792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10659160" y="340010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11" name="TextBox 1110"/>
          <p:cNvSpPr txBox="1"/>
          <p:nvPr/>
        </p:nvSpPr>
        <p:spPr>
          <a:xfrm>
            <a:off x="10767060" y="340010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type_prestation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10659160" y="346228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13" name="TextBox 1112"/>
          <p:cNvSpPr txBox="1"/>
          <p:nvPr/>
        </p:nvSpPr>
        <p:spPr>
          <a:xfrm>
            <a:off x="10767060" y="346228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montant</a:t>
            </a:r>
          </a:p>
        </p:txBody>
      </p:sp>
      <p:sp>
        <p:nvSpPr>
          <p:cNvPr id="1114" name="Rectangle 1113"/>
          <p:cNvSpPr/>
          <p:nvPr/>
        </p:nvSpPr>
        <p:spPr>
          <a:xfrm>
            <a:off x="10639044" y="4054998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Rectangle 1114"/>
          <p:cNvSpPr/>
          <p:nvPr/>
        </p:nvSpPr>
        <p:spPr>
          <a:xfrm>
            <a:off x="10639044" y="4054998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TextBox 1115"/>
          <p:cNvSpPr txBox="1"/>
          <p:nvPr/>
        </p:nvSpPr>
        <p:spPr>
          <a:xfrm>
            <a:off x="10657332" y="407145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IMPUTATION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10659160" y="419581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10767060" y="419581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10659160" y="425799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10767060" y="425799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ligne_id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10659160" y="432017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10767060" y="432017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prestation_id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10659160" y="4382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24" name="TextBox 1123"/>
          <p:cNvSpPr txBox="1"/>
          <p:nvPr/>
        </p:nvSpPr>
        <p:spPr>
          <a:xfrm>
            <a:off x="10767060" y="4382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quantite_imputee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10659160" y="4444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26" name="TextBox 1125"/>
          <p:cNvSpPr txBox="1"/>
          <p:nvPr/>
        </p:nvSpPr>
        <p:spPr>
          <a:xfrm>
            <a:off x="10767060" y="4444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montant_impute</a:t>
            </a:r>
          </a:p>
        </p:txBody>
      </p:sp>
      <p:sp>
        <p:nvSpPr>
          <p:cNvPr id="1127" name="Rectangle 1126"/>
          <p:cNvSpPr/>
          <p:nvPr/>
        </p:nvSpPr>
        <p:spPr>
          <a:xfrm>
            <a:off x="10639044" y="5037246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Rectangle 1127"/>
          <p:cNvSpPr/>
          <p:nvPr/>
        </p:nvSpPr>
        <p:spPr>
          <a:xfrm>
            <a:off x="10639044" y="5037246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TextBox 1128"/>
          <p:cNvSpPr txBox="1"/>
          <p:nvPr/>
        </p:nvSpPr>
        <p:spPr>
          <a:xfrm>
            <a:off x="10657332" y="505370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REGLEMENT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10659160" y="517806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10767060" y="517806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10659160" y="524024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33" name="TextBox 1132"/>
          <p:cNvSpPr txBox="1"/>
          <p:nvPr/>
        </p:nvSpPr>
        <p:spPr>
          <a:xfrm>
            <a:off x="10767060" y="524024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10659160" y="530242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35" name="TextBox 1134"/>
          <p:cNvSpPr txBox="1"/>
          <p:nvPr/>
        </p:nvSpPr>
        <p:spPr>
          <a:xfrm>
            <a:off x="10767060" y="530242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montant</a:t>
            </a:r>
          </a:p>
        </p:txBody>
      </p:sp>
      <p:sp>
        <p:nvSpPr>
          <p:cNvPr id="1136" name="TextBox 1135"/>
          <p:cNvSpPr txBox="1"/>
          <p:nvPr/>
        </p:nvSpPr>
        <p:spPr>
          <a:xfrm>
            <a:off x="10659160" y="536460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37" name="TextBox 1136"/>
          <p:cNvSpPr txBox="1"/>
          <p:nvPr/>
        </p:nvSpPr>
        <p:spPr>
          <a:xfrm>
            <a:off x="10767060" y="536460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10659160" y="542678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39" name="TextBox 1138"/>
          <p:cNvSpPr txBox="1"/>
          <p:nvPr/>
        </p:nvSpPr>
        <p:spPr>
          <a:xfrm>
            <a:off x="10767060" y="542678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1140" name="Rectangle 1139"/>
          <p:cNvSpPr/>
          <p:nvPr/>
        </p:nvSpPr>
        <p:spPr>
          <a:xfrm>
            <a:off x="10639044" y="6019495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Rectangle 1140"/>
          <p:cNvSpPr/>
          <p:nvPr/>
        </p:nvSpPr>
        <p:spPr>
          <a:xfrm>
            <a:off x="10639044" y="6019495"/>
            <a:ext cx="1197864" cy="123444"/>
          </a:xfrm>
          <a:prstGeom prst="rect">
            <a:avLst/>
          </a:prstGeom>
          <a:solidFill>
            <a:srgbClr val="737039"/>
          </a:solidFill>
          <a:ln w="3175">
            <a:solidFill>
              <a:srgbClr val="737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TextBox 1141"/>
          <p:cNvSpPr txBox="1"/>
          <p:nvPr/>
        </p:nvSpPr>
        <p:spPr>
          <a:xfrm>
            <a:off x="10657332" y="6035954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AFFECTATION_PAIEMENT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106591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10767060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10659160" y="62224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10767060" y="62224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sp>
        <p:nvSpPr>
          <p:cNvPr id="1147" name="TextBox 1146"/>
          <p:cNvSpPr txBox="1"/>
          <p:nvPr/>
        </p:nvSpPr>
        <p:spPr>
          <a:xfrm>
            <a:off x="106591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107670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reglement_id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106591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737039"/>
                </a:solidFill>
                <a:latin typeface="Aptos"/>
              </a:defRPr>
            </a:pPr>
            <a:endParaRPr/>
          </a:p>
        </p:txBody>
      </p:sp>
      <p:sp>
        <p:nvSpPr>
          <p:cNvPr id="1150" name="TextBox 1149"/>
          <p:cNvSpPr txBox="1"/>
          <p:nvPr/>
        </p:nvSpPr>
        <p:spPr>
          <a:xfrm>
            <a:off x="107670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montant_affecte</a:t>
            </a:r>
          </a:p>
        </p:txBody>
      </p:sp>
      <p:sp>
        <p:nvSpPr>
          <p:cNvPr id="1151" name="Rectangle 1150"/>
          <p:cNvSpPr/>
          <p:nvPr/>
        </p:nvSpPr>
        <p:spPr>
          <a:xfrm>
            <a:off x="237744" y="859536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Rectangle 1151"/>
          <p:cNvSpPr/>
          <p:nvPr/>
        </p:nvSpPr>
        <p:spPr>
          <a:xfrm>
            <a:off x="237744" y="859536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TextBox 1152"/>
          <p:cNvSpPr txBox="1"/>
          <p:nvPr/>
        </p:nvSpPr>
        <p:spPr>
          <a:xfrm>
            <a:off x="256032" y="87599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COMPTE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257860" y="100035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365760" y="100035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257860" y="106253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365760" y="106253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acteur_id!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257860" y="11247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59" name="TextBox 1158"/>
          <p:cNvSpPr txBox="1"/>
          <p:nvPr/>
        </p:nvSpPr>
        <p:spPr>
          <a:xfrm>
            <a:off x="365760" y="11247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257860" y="118689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61" name="TextBox 1160"/>
          <p:cNvSpPr txBox="1"/>
          <p:nvPr/>
        </p:nvSpPr>
        <p:spPr>
          <a:xfrm>
            <a:off x="365760" y="118689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etat</a:t>
            </a:r>
          </a:p>
        </p:txBody>
      </p:sp>
      <p:sp>
        <p:nvSpPr>
          <p:cNvPr id="1162" name="Rectangle 1161"/>
          <p:cNvSpPr/>
          <p:nvPr/>
        </p:nvSpPr>
        <p:spPr>
          <a:xfrm>
            <a:off x="237744" y="1543376"/>
            <a:ext cx="1197864" cy="284378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Rectangle 1162"/>
          <p:cNvSpPr/>
          <p:nvPr/>
        </p:nvSpPr>
        <p:spPr>
          <a:xfrm>
            <a:off x="237744" y="1543376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TextBox 1163"/>
          <p:cNvSpPr txBox="1"/>
          <p:nvPr/>
        </p:nvSpPr>
        <p:spPr>
          <a:xfrm>
            <a:off x="256032" y="1559835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257860" y="168419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365760" y="168419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257860" y="174637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68" name="TextBox 1167"/>
          <p:cNvSpPr txBox="1"/>
          <p:nvPr/>
        </p:nvSpPr>
        <p:spPr>
          <a:xfrm>
            <a:off x="365760" y="174637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1169" name="Rectangle 1168"/>
          <p:cNvSpPr/>
          <p:nvPr/>
        </p:nvSpPr>
        <p:spPr>
          <a:xfrm>
            <a:off x="237744" y="2102858"/>
            <a:ext cx="1197864" cy="408736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Rectangle 1169"/>
          <p:cNvSpPr/>
          <p:nvPr/>
        </p:nvSpPr>
        <p:spPr>
          <a:xfrm>
            <a:off x="237744" y="2102858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TextBox 1170"/>
          <p:cNvSpPr txBox="1"/>
          <p:nvPr/>
        </p:nvSpPr>
        <p:spPr>
          <a:xfrm>
            <a:off x="256032" y="211931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HABILITATION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257860" y="224367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365760" y="224367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257860" y="230585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365760" y="230585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257860" y="236803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365760" y="236803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257860" y="243021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365760" y="243021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1180" name="Rectangle 1179"/>
          <p:cNvSpPr/>
          <p:nvPr/>
        </p:nvSpPr>
        <p:spPr>
          <a:xfrm>
            <a:off x="237744" y="2786699"/>
            <a:ext cx="1197864" cy="470916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Rectangle 1180"/>
          <p:cNvSpPr/>
          <p:nvPr/>
        </p:nvSpPr>
        <p:spPr>
          <a:xfrm>
            <a:off x="237744" y="2786699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TextBox 1181"/>
          <p:cNvSpPr txBox="1"/>
          <p:nvPr/>
        </p:nvSpPr>
        <p:spPr>
          <a:xfrm>
            <a:off x="256032" y="2803158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1183" name="TextBox 1182"/>
          <p:cNvSpPr txBox="1"/>
          <p:nvPr/>
        </p:nvSpPr>
        <p:spPr>
          <a:xfrm>
            <a:off x="257860" y="292751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365760" y="292751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257860" y="298969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86" name="TextBox 1185"/>
          <p:cNvSpPr txBox="1"/>
          <p:nvPr/>
        </p:nvSpPr>
        <p:spPr>
          <a:xfrm>
            <a:off x="365760" y="298969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187" name="TextBox 1186"/>
          <p:cNvSpPr txBox="1"/>
          <p:nvPr/>
        </p:nvSpPr>
        <p:spPr>
          <a:xfrm>
            <a:off x="257860" y="305187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88" name="TextBox 1187"/>
          <p:cNvSpPr txBox="1"/>
          <p:nvPr/>
        </p:nvSpPr>
        <p:spPr>
          <a:xfrm>
            <a:off x="365760" y="305187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1189" name="TextBox 1188"/>
          <p:cNvSpPr txBox="1"/>
          <p:nvPr/>
        </p:nvSpPr>
        <p:spPr>
          <a:xfrm>
            <a:off x="257860" y="31140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90" name="TextBox 1189"/>
          <p:cNvSpPr txBox="1"/>
          <p:nvPr/>
        </p:nvSpPr>
        <p:spPr>
          <a:xfrm>
            <a:off x="365760" y="31140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ressource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257860" y="31762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192" name="TextBox 1191"/>
          <p:cNvSpPr txBox="1"/>
          <p:nvPr/>
        </p:nvSpPr>
        <p:spPr>
          <a:xfrm>
            <a:off x="365760" y="31762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193" name="Rectangle 1192"/>
          <p:cNvSpPr/>
          <p:nvPr/>
        </p:nvSpPr>
        <p:spPr>
          <a:xfrm>
            <a:off x="237744" y="3532719"/>
            <a:ext cx="1197864" cy="346557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Rectangle 1193"/>
          <p:cNvSpPr/>
          <p:nvPr/>
        </p:nvSpPr>
        <p:spPr>
          <a:xfrm>
            <a:off x="237744" y="3532719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TextBox 1194"/>
          <p:cNvSpPr txBox="1"/>
          <p:nvPr/>
        </p:nvSpPr>
        <p:spPr>
          <a:xfrm>
            <a:off x="256032" y="3549178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ROLE_PERMISSION</a:t>
            </a:r>
          </a:p>
        </p:txBody>
      </p:sp>
      <p:sp>
        <p:nvSpPr>
          <p:cNvPr id="1196" name="TextBox 1195"/>
          <p:cNvSpPr txBox="1"/>
          <p:nvPr/>
        </p:nvSpPr>
        <p:spPr>
          <a:xfrm>
            <a:off x="257860" y="367353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365760" y="367353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98" name="TextBox 1197"/>
          <p:cNvSpPr txBox="1"/>
          <p:nvPr/>
        </p:nvSpPr>
        <p:spPr>
          <a:xfrm>
            <a:off x="257860" y="373571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365760" y="373571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257860" y="379789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365760" y="379789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permission_id</a:t>
            </a:r>
          </a:p>
        </p:txBody>
      </p:sp>
      <p:sp>
        <p:nvSpPr>
          <p:cNvPr id="1202" name="Rectangle 1201"/>
          <p:cNvSpPr/>
          <p:nvPr/>
        </p:nvSpPr>
        <p:spPr>
          <a:xfrm>
            <a:off x="237744" y="4154380"/>
            <a:ext cx="1197864" cy="657453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Rectangle 1202"/>
          <p:cNvSpPr/>
          <p:nvPr/>
        </p:nvSpPr>
        <p:spPr>
          <a:xfrm>
            <a:off x="237744" y="4154380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TextBox 1203"/>
          <p:cNvSpPr txBox="1"/>
          <p:nvPr/>
        </p:nvSpPr>
        <p:spPr>
          <a:xfrm>
            <a:off x="256032" y="4170839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ECHANGE</a:t>
            </a:r>
          </a:p>
        </p:txBody>
      </p:sp>
      <p:sp>
        <p:nvSpPr>
          <p:cNvPr id="1205" name="TextBox 1204"/>
          <p:cNvSpPr txBox="1"/>
          <p:nvPr/>
        </p:nvSpPr>
        <p:spPr>
          <a:xfrm>
            <a:off x="257860" y="4295198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365760" y="4295198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07" name="TextBox 1206"/>
          <p:cNvSpPr txBox="1"/>
          <p:nvPr/>
        </p:nvSpPr>
        <p:spPr>
          <a:xfrm>
            <a:off x="257860" y="4357377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365760" y="4357377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initiateur_id?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257860" y="4419556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10" name="TextBox 1209"/>
          <p:cNvSpPr txBox="1"/>
          <p:nvPr/>
        </p:nvSpPr>
        <p:spPr>
          <a:xfrm>
            <a:off x="365760" y="4419556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11" name="TextBox 1210"/>
          <p:cNvSpPr txBox="1"/>
          <p:nvPr/>
        </p:nvSpPr>
        <p:spPr>
          <a:xfrm>
            <a:off x="257860" y="448173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12" name="TextBox 1211"/>
          <p:cNvSpPr txBox="1"/>
          <p:nvPr/>
        </p:nvSpPr>
        <p:spPr>
          <a:xfrm>
            <a:off x="365760" y="448173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1213" name="TextBox 1212"/>
          <p:cNvSpPr txBox="1"/>
          <p:nvPr/>
        </p:nvSpPr>
        <p:spPr>
          <a:xfrm>
            <a:off x="257860" y="454391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14" name="TextBox 1213"/>
          <p:cNvSpPr txBox="1"/>
          <p:nvPr/>
        </p:nvSpPr>
        <p:spPr>
          <a:xfrm>
            <a:off x="365760" y="454391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sens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257860" y="460609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16" name="TextBox 1215"/>
          <p:cNvSpPr txBox="1"/>
          <p:nvPr/>
        </p:nvSpPr>
        <p:spPr>
          <a:xfrm>
            <a:off x="365760" y="460609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etat</a:t>
            </a:r>
          </a:p>
        </p:txBody>
      </p:sp>
      <p:sp>
        <p:nvSpPr>
          <p:cNvPr id="1217" name="TextBox 1216"/>
          <p:cNvSpPr txBox="1"/>
          <p:nvPr/>
        </p:nvSpPr>
        <p:spPr>
          <a:xfrm>
            <a:off x="257860" y="466827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18" name="TextBox 1217"/>
          <p:cNvSpPr txBox="1"/>
          <p:nvPr/>
        </p:nvSpPr>
        <p:spPr>
          <a:xfrm>
            <a:off x="365760" y="466827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anomalies</a:t>
            </a:r>
          </a:p>
        </p:txBody>
      </p:sp>
      <p:sp>
        <p:nvSpPr>
          <p:cNvPr id="1219" name="TextBox 1218"/>
          <p:cNvSpPr txBox="1"/>
          <p:nvPr/>
        </p:nvSpPr>
        <p:spPr>
          <a:xfrm>
            <a:off x="257860" y="473045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20" name="TextBox 1219"/>
          <p:cNvSpPr txBox="1"/>
          <p:nvPr/>
        </p:nvSpPr>
        <p:spPr>
          <a:xfrm>
            <a:off x="365760" y="473045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correspondances_identifiants</a:t>
            </a:r>
          </a:p>
        </p:txBody>
      </p:sp>
      <p:sp>
        <p:nvSpPr>
          <p:cNvPr id="1221" name="Rectangle 1220"/>
          <p:cNvSpPr/>
          <p:nvPr/>
        </p:nvSpPr>
        <p:spPr>
          <a:xfrm>
            <a:off x="237744" y="5086937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Rectangle 1221"/>
          <p:cNvSpPr/>
          <p:nvPr/>
        </p:nvSpPr>
        <p:spPr>
          <a:xfrm>
            <a:off x="237744" y="5086937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TextBox 1222"/>
          <p:cNvSpPr txBox="1"/>
          <p:nvPr/>
        </p:nvSpPr>
        <p:spPr>
          <a:xfrm>
            <a:off x="256032" y="5103397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REQUETE_IA</a:t>
            </a:r>
          </a:p>
        </p:txBody>
      </p:sp>
      <p:sp>
        <p:nvSpPr>
          <p:cNvPr id="1224" name="TextBox 1223"/>
          <p:cNvSpPr txBox="1"/>
          <p:nvPr/>
        </p:nvSpPr>
        <p:spPr>
          <a:xfrm>
            <a:off x="257860" y="5227755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365760" y="5227755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26" name="TextBox 1225"/>
          <p:cNvSpPr txBox="1"/>
          <p:nvPr/>
        </p:nvSpPr>
        <p:spPr>
          <a:xfrm>
            <a:off x="257860" y="528993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365760" y="528993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sp>
        <p:nvSpPr>
          <p:cNvPr id="1228" name="TextBox 1227"/>
          <p:cNvSpPr txBox="1"/>
          <p:nvPr/>
        </p:nvSpPr>
        <p:spPr>
          <a:xfrm>
            <a:off x="257860" y="535211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29" name="TextBox 1228"/>
          <p:cNvSpPr txBox="1"/>
          <p:nvPr/>
        </p:nvSpPr>
        <p:spPr>
          <a:xfrm>
            <a:off x="365760" y="535211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257860" y="541429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31" name="TextBox 1230"/>
          <p:cNvSpPr txBox="1"/>
          <p:nvPr/>
        </p:nvSpPr>
        <p:spPr>
          <a:xfrm>
            <a:off x="365760" y="541429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257860" y="547647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33" name="TextBox 1232"/>
          <p:cNvSpPr txBox="1"/>
          <p:nvPr/>
        </p:nvSpPr>
        <p:spPr>
          <a:xfrm>
            <a:off x="365760" y="547647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reponse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257860" y="553865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35" name="TextBox 1234"/>
          <p:cNvSpPr txBox="1"/>
          <p:nvPr/>
        </p:nvSpPr>
        <p:spPr>
          <a:xfrm>
            <a:off x="365760" y="553865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contexte</a:t>
            </a:r>
          </a:p>
        </p:txBody>
      </p:sp>
      <p:sp>
        <p:nvSpPr>
          <p:cNvPr id="1236" name="Rectangle 1235"/>
          <p:cNvSpPr/>
          <p:nvPr/>
        </p:nvSpPr>
        <p:spPr>
          <a:xfrm>
            <a:off x="237744" y="5895136"/>
            <a:ext cx="1197864" cy="533095"/>
          </a:xfrm>
          <a:prstGeom prst="rect">
            <a:avLst/>
          </a:prstGeom>
          <a:solidFill>
            <a:srgbClr val="FFFFFF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Rectangle 1236"/>
          <p:cNvSpPr/>
          <p:nvPr/>
        </p:nvSpPr>
        <p:spPr>
          <a:xfrm>
            <a:off x="237744" y="5895136"/>
            <a:ext cx="1197864" cy="123444"/>
          </a:xfrm>
          <a:prstGeom prst="rect">
            <a:avLst/>
          </a:prstGeom>
          <a:solidFill>
            <a:srgbClr val="5C6980"/>
          </a:solidFill>
          <a:ln w="3175">
            <a:solidFill>
              <a:srgbClr val="5C6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TextBox 1237"/>
          <p:cNvSpPr txBox="1"/>
          <p:nvPr/>
        </p:nvSpPr>
        <p:spPr>
          <a:xfrm>
            <a:off x="256032" y="5911596"/>
            <a:ext cx="1165860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" b="1">
                <a:solidFill>
                  <a:srgbClr val="FFFFFF"/>
                </a:solidFill>
                <a:latin typeface="Aptos"/>
              </a:defRPr>
            </a:pPr>
            <a:r>
              <a:t>ARTICLE_AIDE</a:t>
            </a:r>
          </a:p>
        </p:txBody>
      </p:sp>
      <p:sp>
        <p:nvSpPr>
          <p:cNvPr id="1239" name="TextBox 1238"/>
          <p:cNvSpPr txBox="1"/>
          <p:nvPr/>
        </p:nvSpPr>
        <p:spPr>
          <a:xfrm>
            <a:off x="257860" y="6035954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365760" y="6035954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257860" y="6098133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365760" y="6098133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1243" name="TextBox 1242"/>
          <p:cNvSpPr txBox="1"/>
          <p:nvPr/>
        </p:nvSpPr>
        <p:spPr>
          <a:xfrm>
            <a:off x="257860" y="616031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44" name="TextBox 1243"/>
          <p:cNvSpPr txBox="1"/>
          <p:nvPr/>
        </p:nvSpPr>
        <p:spPr>
          <a:xfrm>
            <a:off x="365760" y="616031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titre</a:t>
            </a:r>
          </a:p>
        </p:txBody>
      </p:sp>
      <p:sp>
        <p:nvSpPr>
          <p:cNvPr id="1245" name="TextBox 1244"/>
          <p:cNvSpPr txBox="1"/>
          <p:nvPr/>
        </p:nvSpPr>
        <p:spPr>
          <a:xfrm>
            <a:off x="257860" y="6222492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46" name="TextBox 1245"/>
          <p:cNvSpPr txBox="1"/>
          <p:nvPr/>
        </p:nvSpPr>
        <p:spPr>
          <a:xfrm>
            <a:off x="365760" y="6222492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theme</a:t>
            </a:r>
          </a:p>
        </p:txBody>
      </p:sp>
      <p:sp>
        <p:nvSpPr>
          <p:cNvPr id="1247" name="TextBox 1246"/>
          <p:cNvSpPr txBox="1"/>
          <p:nvPr/>
        </p:nvSpPr>
        <p:spPr>
          <a:xfrm>
            <a:off x="257860" y="6284671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48" name="TextBox 1247"/>
          <p:cNvSpPr txBox="1"/>
          <p:nvPr/>
        </p:nvSpPr>
        <p:spPr>
          <a:xfrm>
            <a:off x="365760" y="6284671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contenu</a:t>
            </a:r>
          </a:p>
        </p:txBody>
      </p:sp>
      <p:sp>
        <p:nvSpPr>
          <p:cNvPr id="1249" name="TextBox 1248"/>
          <p:cNvSpPr txBox="1"/>
          <p:nvPr/>
        </p:nvSpPr>
        <p:spPr>
          <a:xfrm>
            <a:off x="257860" y="6346850"/>
            <a:ext cx="100584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5" b="1">
                <a:solidFill>
                  <a:srgbClr val="5C6980"/>
                </a:solidFill>
                <a:latin typeface="Aptos"/>
              </a:defRPr>
            </a:pPr>
            <a:endParaRPr/>
          </a:p>
        </p:txBody>
      </p:sp>
      <p:sp>
        <p:nvSpPr>
          <p:cNvPr id="1250" name="TextBox 1249"/>
          <p:cNvSpPr txBox="1"/>
          <p:nvPr/>
        </p:nvSpPr>
        <p:spPr>
          <a:xfrm>
            <a:off x="365760" y="6346850"/>
            <a:ext cx="1051560" cy="62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" b="0">
                <a:solidFill>
                  <a:srgbClr val="0E2841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11539728" y="6601968"/>
            <a:ext cx="3657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61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effectif et travail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43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  <a:endParaRPr lang="fr-FR"/>
          </a:p>
        </p:txBody>
      </p:sp>
      <p:cxnSp>
        <p:nvCxnSpPr>
          <p:cNvPr id="8" name="Connector 7"/>
          <p:cNvCxnSpPr/>
          <p:nvPr/>
        </p:nvCxnSpPr>
        <p:spPr>
          <a:xfrm>
            <a:off x="2889504" y="1908238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83530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ECURIE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  <a:endParaRPr lang="fr-FR"/>
          </a:p>
        </p:txBody>
      </p:sp>
      <p:cxnSp>
        <p:nvCxnSpPr>
          <p:cNvPr id="13" name="Connector 12"/>
          <p:cNvCxnSpPr/>
          <p:nvPr/>
        </p:nvCxnSpPr>
        <p:spPr>
          <a:xfrm>
            <a:off x="9676638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21524" y="1682496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lieu_parent_id?</a:t>
            </a:r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438912" y="2234565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SEJOUR</a:t>
            </a:r>
            <a:endParaRPr lang="fr-FR"/>
          </a:p>
        </p:txBody>
      </p:sp>
      <p:cxnSp>
        <p:nvCxnSpPr>
          <p:cNvPr id="16" name="Connector 15"/>
          <p:cNvCxnSpPr/>
          <p:nvPr/>
        </p:nvCxnSpPr>
        <p:spPr>
          <a:xfrm>
            <a:off x="2889504" y="2460307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2384" y="2184273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2384" y="2184273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83530" y="218427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28416" y="2234565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21" name="Connector 20"/>
          <p:cNvCxnSpPr/>
          <p:nvPr/>
        </p:nvCxnSpPr>
        <p:spPr>
          <a:xfrm>
            <a:off x="9676638" y="218427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21524" y="2234565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438912" y="2786634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MOUVEMENT</a:t>
            </a:r>
            <a:endParaRPr lang="fr-FR"/>
          </a:p>
        </p:txBody>
      </p:sp>
      <p:cxnSp>
        <p:nvCxnSpPr>
          <p:cNvPr id="24" name="Connector 23"/>
          <p:cNvCxnSpPr/>
          <p:nvPr/>
        </p:nvCxnSpPr>
        <p:spPr>
          <a:xfrm>
            <a:off x="2889504" y="301237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72384" y="2736342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72384" y="2736342"/>
            <a:ext cx="7319772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8012" y="273634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28416" y="2786634"/>
            <a:ext cx="2679191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29" name="Connector 28"/>
          <p:cNvCxnSpPr/>
          <p:nvPr/>
        </p:nvCxnSpPr>
        <p:spPr>
          <a:xfrm>
            <a:off x="7530083" y="273634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190488" y="2786634"/>
            <a:ext cx="2679191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lieu_depart_id?, lieu_arrivee_id?</a:t>
            </a:r>
            <a:endParaRPr lang="fr-FR"/>
          </a:p>
        </p:txBody>
      </p:sp>
      <p:cxnSp>
        <p:nvCxnSpPr>
          <p:cNvPr id="31" name="Connector 30"/>
          <p:cNvCxnSpPr/>
          <p:nvPr/>
        </p:nvCxnSpPr>
        <p:spPr>
          <a:xfrm>
            <a:off x="10392156" y="273634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052560" y="2786634"/>
            <a:ext cx="2679191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transporteur_id?</a:t>
            </a:r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438912" y="3338703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DETENTION</a:t>
            </a:r>
            <a:endParaRPr lang="fr-FR"/>
          </a:p>
        </p:txBody>
      </p:sp>
      <p:cxnSp>
        <p:nvCxnSpPr>
          <p:cNvPr id="34" name="Connector 33"/>
          <p:cNvCxnSpPr/>
          <p:nvPr/>
        </p:nvCxnSpPr>
        <p:spPr>
          <a:xfrm>
            <a:off x="2889504" y="356444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72384" y="3288411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72384" y="3288411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383530" y="3288411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328416" y="3338703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39" name="Connector 38"/>
          <p:cNvCxnSpPr/>
          <p:nvPr/>
        </p:nvCxnSpPr>
        <p:spPr>
          <a:xfrm>
            <a:off x="9676638" y="3288411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621524" y="3338703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proprietaire_id</a:t>
            </a:r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438912" y="3890772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LOT</a:t>
            </a:r>
            <a:endParaRPr lang="fr-FR"/>
          </a:p>
        </p:txBody>
      </p:sp>
      <p:cxnSp>
        <p:nvCxnSpPr>
          <p:cNvPr id="42" name="Connector 41"/>
          <p:cNvCxnSpPr/>
          <p:nvPr/>
        </p:nvCxnSpPr>
        <p:spPr>
          <a:xfrm>
            <a:off x="2889504" y="4116514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72384" y="3840480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72384" y="3840480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83530" y="384048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328416" y="3890772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  <a:endParaRPr lang="fr-FR"/>
          </a:p>
        </p:txBody>
      </p:sp>
      <p:cxnSp>
        <p:nvCxnSpPr>
          <p:cNvPr id="47" name="Connector 46"/>
          <p:cNvCxnSpPr/>
          <p:nvPr/>
        </p:nvCxnSpPr>
        <p:spPr>
          <a:xfrm>
            <a:off x="9676638" y="384048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21524" y="3890772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responsable_id</a:t>
            </a:r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438912" y="4442841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SEANCE</a:t>
            </a:r>
            <a:endParaRPr lang="fr-FR"/>
          </a:p>
        </p:txBody>
      </p:sp>
      <p:cxnSp>
        <p:nvCxnSpPr>
          <p:cNvPr id="50" name="Connector 49"/>
          <p:cNvCxnSpPr/>
          <p:nvPr/>
        </p:nvCxnSpPr>
        <p:spPr>
          <a:xfrm>
            <a:off x="2889504" y="4668583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72384" y="4392549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72384" y="4392549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383530" y="4392549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328416" y="4442841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55" name="Connector 54"/>
          <p:cNvCxnSpPr/>
          <p:nvPr/>
        </p:nvCxnSpPr>
        <p:spPr>
          <a:xfrm>
            <a:off x="9676638" y="4392549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621524" y="4442841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LOT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lot_id</a:t>
            </a:r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438912" y="4994910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AFFECTATION</a:t>
            </a:r>
            <a:endParaRPr lang="fr-FR"/>
          </a:p>
        </p:txBody>
      </p:sp>
      <p:cxnSp>
        <p:nvCxnSpPr>
          <p:cNvPr id="58" name="Connector 57"/>
          <p:cNvCxnSpPr/>
          <p:nvPr/>
        </p:nvCxnSpPr>
        <p:spPr>
          <a:xfrm>
            <a:off x="2889504" y="5220652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072384" y="4944618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72384" y="4944618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383530" y="494461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328416" y="4994910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SEANCE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seance_id</a:t>
            </a:r>
            <a:endParaRPr lang="fr-FR"/>
          </a:p>
        </p:txBody>
      </p:sp>
      <p:cxnSp>
        <p:nvCxnSpPr>
          <p:cNvPr id="63" name="Connector 62"/>
          <p:cNvCxnSpPr/>
          <p:nvPr/>
        </p:nvCxnSpPr>
        <p:spPr>
          <a:xfrm>
            <a:off x="9676638" y="494461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7621524" y="4994910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acteur_id</a:t>
            </a:r>
            <a:endParaRPr lang="fr-FR"/>
          </a:p>
        </p:txBody>
      </p:sp>
      <p:sp>
        <p:nvSpPr>
          <p:cNvPr id="65" name="Rectangle 64"/>
          <p:cNvSpPr/>
          <p:nvPr/>
        </p:nvSpPr>
        <p:spPr>
          <a:xfrm>
            <a:off x="438912" y="5546979"/>
            <a:ext cx="2450592" cy="451485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RATION</a:t>
            </a:r>
            <a:endParaRPr lang="fr-FR"/>
          </a:p>
        </p:txBody>
      </p:sp>
      <p:cxnSp>
        <p:nvCxnSpPr>
          <p:cNvPr id="66" name="Connector 65"/>
          <p:cNvCxnSpPr/>
          <p:nvPr/>
        </p:nvCxnSpPr>
        <p:spPr>
          <a:xfrm>
            <a:off x="2889504" y="5772721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072384" y="5496687"/>
            <a:ext cx="0" cy="27603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72384" y="5496687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383530" y="5496687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328416" y="5546979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71" name="Connector 70"/>
          <p:cNvCxnSpPr/>
          <p:nvPr/>
        </p:nvCxnSpPr>
        <p:spPr>
          <a:xfrm>
            <a:off x="9676638" y="5496687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621524" y="5546979"/>
            <a:ext cx="4110228" cy="451485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1549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santé et </a:t>
            </a:r>
            <a:r>
              <a:rPr lang="fr-FR"/>
              <a:t>conformité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44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ACTE_SANTE</a:t>
            </a:r>
            <a:endParaRPr lang="fr-FR"/>
          </a:p>
        </p:txBody>
      </p:sp>
      <p:cxnSp>
        <p:nvCxnSpPr>
          <p:cNvPr id="8" name="Connector 7"/>
          <p:cNvCxnSpPr/>
          <p:nvPr/>
        </p:nvCxnSpPr>
        <p:spPr>
          <a:xfrm>
            <a:off x="2889504" y="191109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78891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83530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13" name="Connector 12"/>
          <p:cNvCxnSpPr/>
          <p:nvPr/>
        </p:nvCxnSpPr>
        <p:spPr>
          <a:xfrm>
            <a:off x="9676638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21524" y="168249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intervenant_id, certificateur_id?</a:t>
            </a:r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438912" y="2313432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PRESCRIPTION</a:t>
            </a:r>
            <a:endParaRPr lang="fr-FR"/>
          </a:p>
        </p:txBody>
      </p:sp>
      <p:cxnSp>
        <p:nvCxnSpPr>
          <p:cNvPr id="16" name="Connector 15"/>
          <p:cNvCxnSpPr/>
          <p:nvPr/>
        </p:nvCxnSpPr>
        <p:spPr>
          <a:xfrm>
            <a:off x="2889504" y="2542032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2384" y="2263140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2384" y="2263140"/>
            <a:ext cx="7677531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10253" y="226314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28416" y="2313432"/>
            <a:ext cx="1963674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  <a:endParaRPr lang="fr-FR"/>
          </a:p>
        </p:txBody>
      </p:sp>
      <p:cxnSp>
        <p:nvCxnSpPr>
          <p:cNvPr id="21" name="Connector 20"/>
          <p:cNvCxnSpPr/>
          <p:nvPr/>
        </p:nvCxnSpPr>
        <p:spPr>
          <a:xfrm>
            <a:off x="6456807" y="226314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74970" y="2313432"/>
            <a:ext cx="1963674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prescripteur_id</a:t>
            </a:r>
            <a:endParaRPr lang="fr-FR"/>
          </a:p>
        </p:txBody>
      </p:sp>
      <p:cxnSp>
        <p:nvCxnSpPr>
          <p:cNvPr id="23" name="Connector 22"/>
          <p:cNvCxnSpPr/>
          <p:nvPr/>
        </p:nvCxnSpPr>
        <p:spPr>
          <a:xfrm>
            <a:off x="8603361" y="226314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21524" y="2313432"/>
            <a:ext cx="1963674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PRODUIT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  <a:endParaRPr lang="fr-FR"/>
          </a:p>
        </p:txBody>
      </p:sp>
      <p:cxnSp>
        <p:nvCxnSpPr>
          <p:cNvPr id="25" name="Connector 24"/>
          <p:cNvCxnSpPr/>
          <p:nvPr/>
        </p:nvCxnSpPr>
        <p:spPr>
          <a:xfrm>
            <a:off x="10749915" y="226314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768078" y="2313432"/>
            <a:ext cx="1963674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DOCUMENT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ordonnance_id?</a:t>
            </a:r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438912" y="2944368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EXAMEN</a:t>
            </a:r>
            <a:endParaRPr lang="fr-FR"/>
          </a:p>
        </p:txBody>
      </p:sp>
      <p:cxnSp>
        <p:nvCxnSpPr>
          <p:cNvPr id="28" name="Connector 27"/>
          <p:cNvCxnSpPr/>
          <p:nvPr/>
        </p:nvCxnSpPr>
        <p:spPr>
          <a:xfrm>
            <a:off x="2889504" y="3172968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72384" y="2894076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72384" y="2894076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30083" y="2894076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28416" y="2944368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ACTE_SANTE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438912" y="3575304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VACCINATION</a:t>
            </a:r>
            <a:endParaRPr lang="fr-FR"/>
          </a:p>
        </p:txBody>
      </p:sp>
      <p:cxnSp>
        <p:nvCxnSpPr>
          <p:cNvPr id="34" name="Connector 33"/>
          <p:cNvCxnSpPr/>
          <p:nvPr/>
        </p:nvCxnSpPr>
        <p:spPr>
          <a:xfrm>
            <a:off x="2889504" y="3803904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72384" y="3525012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72384" y="3525012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383530" y="352501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328416" y="3575304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ACTE_SANTE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  <a:endParaRPr lang="fr-FR"/>
          </a:p>
        </p:txBody>
      </p:sp>
      <p:cxnSp>
        <p:nvCxnSpPr>
          <p:cNvPr id="39" name="Connector 38"/>
          <p:cNvCxnSpPr/>
          <p:nvPr/>
        </p:nvCxnSpPr>
        <p:spPr>
          <a:xfrm>
            <a:off x="9676638" y="352501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621524" y="3575304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PRODUIT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vaccin_id</a:t>
            </a:r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438912" y="4206240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ADMINISTRATION</a:t>
            </a:r>
            <a:endParaRPr lang="fr-FR"/>
          </a:p>
        </p:txBody>
      </p:sp>
      <p:cxnSp>
        <p:nvCxnSpPr>
          <p:cNvPr id="42" name="Connector 41"/>
          <p:cNvCxnSpPr/>
          <p:nvPr/>
        </p:nvCxnSpPr>
        <p:spPr>
          <a:xfrm>
            <a:off x="2889504" y="4434840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72384" y="4155948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72384" y="4155948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83530" y="415594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328416" y="4206240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ACTE_SANTE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  <a:endParaRPr lang="fr-FR"/>
          </a:p>
        </p:txBody>
      </p:sp>
      <p:cxnSp>
        <p:nvCxnSpPr>
          <p:cNvPr id="47" name="Connector 46"/>
          <p:cNvCxnSpPr/>
          <p:nvPr/>
        </p:nvCxnSpPr>
        <p:spPr>
          <a:xfrm>
            <a:off x="9676638" y="415594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21524" y="4206240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PRODUIT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438912" y="483717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ACTE_PRESCRIPTION</a:t>
            </a:r>
            <a:endParaRPr lang="fr-FR"/>
          </a:p>
        </p:txBody>
      </p:sp>
      <p:cxnSp>
        <p:nvCxnSpPr>
          <p:cNvPr id="50" name="Connector 49"/>
          <p:cNvCxnSpPr/>
          <p:nvPr/>
        </p:nvCxnSpPr>
        <p:spPr>
          <a:xfrm>
            <a:off x="2889504" y="506577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72384" y="478688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72384" y="478688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383530" y="47868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328416" y="483717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ACTE_SANTE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  <a:endParaRPr lang="fr-FR"/>
          </a:p>
        </p:txBody>
      </p:sp>
      <p:cxnSp>
        <p:nvCxnSpPr>
          <p:cNvPr id="55" name="Connector 54"/>
          <p:cNvCxnSpPr/>
          <p:nvPr/>
        </p:nvCxnSpPr>
        <p:spPr>
          <a:xfrm>
            <a:off x="9676638" y="47868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621524" y="483717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PRESCRIPTION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prescription_id</a:t>
            </a:r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438912" y="5468112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ACTE_DOCUMENT</a:t>
            </a:r>
            <a:endParaRPr lang="fr-FR"/>
          </a:p>
        </p:txBody>
      </p:sp>
      <p:cxnSp>
        <p:nvCxnSpPr>
          <p:cNvPr id="58" name="Connector 57"/>
          <p:cNvCxnSpPr/>
          <p:nvPr/>
        </p:nvCxnSpPr>
        <p:spPr>
          <a:xfrm>
            <a:off x="2889504" y="5696712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072384" y="5417820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72384" y="5417820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383530" y="541782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328416" y="5468112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ACTE_SANTE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  <a:endParaRPr lang="fr-FR"/>
          </a:p>
        </p:txBody>
      </p:sp>
      <p:cxnSp>
        <p:nvCxnSpPr>
          <p:cNvPr id="63" name="Connector 62"/>
          <p:cNvCxnSpPr/>
          <p:nvPr/>
        </p:nvCxnSpPr>
        <p:spPr>
          <a:xfrm>
            <a:off x="9676638" y="541782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7621524" y="5468112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DOCUMENT</a:t>
            </a:r>
            <a:endParaRPr lang="fr-FR"/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1549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</a:t>
            </a:r>
            <a:r>
              <a:rPr lang="fr-FR"/>
              <a:t>courses </a:t>
            </a:r>
            <a:r>
              <a:t>et </a:t>
            </a:r>
            <a:r>
              <a:rPr lang="fr-FR"/>
              <a:t>déplacements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45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rPr lang="fr-FR"/>
              <a:t>ENGAGEMENT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9504" y="191109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78891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7319772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8012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CHEVAL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cheval</a:t>
            </a:r>
            <a:r>
              <a:t>_id</a:t>
            </a:r>
            <a:endParaRPr lang="fr-FR"/>
          </a:p>
        </p:txBody>
      </p:sp>
      <p:cxnSp>
        <p:nvCxnSpPr>
          <p:cNvPr id="13" name="Connector 12"/>
          <p:cNvCxnSpPr/>
          <p:nvPr/>
        </p:nvCxnSpPr>
        <p:spPr>
          <a:xfrm>
            <a:off x="7530083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90488" y="168249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COURSE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course_id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92156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052560" y="168249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jockey_id?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232257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RESULTAT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9504" y="255117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72384" y="227228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72384" y="227228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30083" y="22722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28416" y="232257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ENGAGEMENT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engagement_id!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296265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TRANSPORT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9504" y="319125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72384" y="291236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72384" y="291236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83530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28416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transporteur_id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76638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21524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lieu_depart_id?, lieu_arrivee_id?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3602735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PRISE_EN_CHARGE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89504" y="383133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72384" y="3552443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72384" y="3552443"/>
            <a:ext cx="7319772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68012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328416" y="3602735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30083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190488" y="3602735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TRANSPORT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transport_id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392156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052560" y="3602735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LIEU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lieu_prise_id?, lieu_depose</a:t>
            </a:r>
            <a:r>
              <a:t>_id</a:t>
            </a:r>
            <a:r>
              <a:rPr lang="fr-FR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424281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ENGAGEMENT_TRANSPORT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89504" y="447141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72384" y="419252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72384" y="419252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83530" y="419252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328416" y="424281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ENGAGEMENT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engagement_id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76638" y="419252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21524" y="424281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TRANSPORT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transport</a:t>
            </a:r>
            <a:r>
              <a:t>_id</a:t>
            </a:r>
            <a:endParaRPr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1549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</a:t>
            </a:r>
            <a:r>
              <a:rPr lang="fr-FR"/>
              <a:t>ressources humaines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46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rPr lang="fr-FR"/>
              <a:t>EMPLOYE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9504" y="191109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78891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30083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acteur</a:t>
            </a:r>
            <a:r>
              <a:t>_id</a:t>
            </a:r>
            <a:r>
              <a:rPr lang="fr-FR"/>
              <a:t>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32257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CRENEAU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255117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72384" y="227228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2384" y="227228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30083" y="22722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28416" y="232257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LIEU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lieu_id?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6265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EMPLOYE_CRENEAU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9504" y="319125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72384" y="291236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72384" y="291236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83530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28416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EMPLOYE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76638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21524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CRENEAU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creneau_id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602735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POINTAGE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89504" y="383133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72384" y="3552443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72384" y="3552443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83530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28416" y="3602735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EMPLOYE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76638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621524" y="3602735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correcteur</a:t>
            </a:r>
            <a:r>
              <a:t>_id</a:t>
            </a:r>
            <a:r>
              <a:rPr lang="fr-FR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424281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ABSENCE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89504" y="447141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72384" y="419252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72384" y="419252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83530" y="419252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328416" y="424281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EMPLOYE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76638" y="419252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621524" y="424281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rPr lang="fr-FR"/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rPr lang="fr-FR"/>
              <a:t>validateur</a:t>
            </a:r>
            <a:r>
              <a:t>_id</a:t>
            </a:r>
            <a:r>
              <a:rPr lang="fr-FR"/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accès et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47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COMPTE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9504" y="191109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78891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30083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acteur_id!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32257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HABILITATION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255117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72384" y="227228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2384" y="2272284"/>
            <a:ext cx="7319772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8012" y="22722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28416" y="232257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COMPTE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30083" y="22722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90488" y="232257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ROLE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92156" y="227228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52560" y="2322576"/>
            <a:ext cx="2679191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ECURIE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296265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ROLE_PERMISSION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9504" y="319125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72384" y="291236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72384" y="291236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83530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28416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ROLE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76638" y="291236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21524" y="2962656"/>
            <a:ext cx="4110228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PERMISSION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permission_id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3602735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ECHANGE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89504" y="383133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72384" y="3552443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72384" y="3552443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30083" y="3552443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328416" y="3602735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COMPTE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initiateur_id?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424281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REQUETE_IA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89504" y="447141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72384" y="419252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72384" y="419252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30083" y="419252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328416" y="424281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COMPTE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882896"/>
            <a:ext cx="2450592" cy="457200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ARTICLE_AIDE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889504" y="511149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72384" y="4832604"/>
            <a:ext cx="0" cy="2788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72384" y="483260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30083" y="48326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328416" y="4882896"/>
            <a:ext cx="8403336" cy="457200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COMPTE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754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Relations entre tables : historique et facturation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1247120" cy="35661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270" b="0">
                <a:solidFill>
                  <a:srgbClr val="536570"/>
                </a:solidFill>
                <a:latin typeface="Aptos"/>
              </a:defRPr>
            </a:pPr>
            <a:r>
              <a:t>Chaque ligne relie une table à toutes les tables qu’elle référence. Les noms répétés désignent la même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48640" cy="1538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48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237744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 PORTEUSE DES FK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8595360" cy="2286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l">
              <a:spcAft>
                <a:spcPts val="0"/>
              </a:spcAft>
              <a:defRPr sz="1080" b="1">
                <a:solidFill>
                  <a:srgbClr val="156082"/>
                </a:solidFill>
                <a:latin typeface="Aptos"/>
              </a:defRPr>
            </a:pPr>
            <a:r>
              <a:t>TABLES RÉFÉRENCÉES ET CHAMPS DE LIAISON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682496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EVENEMENT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9504" y="1877568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72384" y="1632204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1632204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83530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8416" y="1682496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76638" y="163220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21524" y="1682496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173224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EVENEMENT_DOCUMENT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9504" y="2368296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72384" y="2122932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2384" y="2122932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83530" y="212293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28416" y="2173224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EVENEMENT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evenement_id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76638" y="212293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21524" y="2173224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DOCUMENT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2663952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NOTIFICATION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9504" y="2859024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72384" y="2613659"/>
            <a:ext cx="0" cy="245365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72384" y="2613659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30083" y="2613659"/>
            <a:ext cx="0" cy="50293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28416" y="2663952"/>
            <a:ext cx="8403336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EVENEMENT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evenement_id?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3154680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RECEPTION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89504" y="3349752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072384" y="3104388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72384" y="3104388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83530" y="310438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328416" y="3154680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NOTIFICATION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notification_id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76638" y="310438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621524" y="3154680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3645407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FACTURE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89504" y="3840479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72384" y="3595115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72384" y="3595115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83530" y="3595115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328416" y="3645407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ECURIE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76638" y="3595115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621524" y="3645407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ACTEUR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4136136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LIGNE_FACTURE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889504" y="4331208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072384" y="4085844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72384" y="4085844"/>
            <a:ext cx="4457699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30083" y="4085844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328416" y="4136136"/>
            <a:ext cx="8403336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FACTURE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" y="4626864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PRESTATION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889504" y="4821935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072384" y="4576572"/>
            <a:ext cx="0" cy="245363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072384" y="4576572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83530" y="457657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328416" y="4626864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CHEVAL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676638" y="4576572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621524" y="4626864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DOCUMENT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justificatif_id?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" y="5117592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IMPUTATION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889504" y="5312664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72384" y="5067300"/>
            <a:ext cx="0" cy="245364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72384" y="5067300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383530" y="506730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328416" y="5117592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LIGNE_FACTURE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ligne_id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676638" y="5067300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621524" y="5117592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PRESTATION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prestation_id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" y="5608320"/>
            <a:ext cx="2450592" cy="390144"/>
          </a:xfrm>
          <a:prstGeom prst="rect">
            <a:avLst/>
          </a:prstGeom>
          <a:solidFill>
            <a:srgbClr val="156082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20" b="1">
                <a:solidFill>
                  <a:srgbClr val="FFFFFF"/>
                </a:solidFill>
                <a:latin typeface="Aptos"/>
              </a:defRPr>
            </a:pPr>
            <a:r>
              <a:t>AFFECTATION_PAIEMENT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89504" y="5803391"/>
            <a:ext cx="182880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072384" y="5558028"/>
            <a:ext cx="0" cy="245363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72384" y="5558028"/>
            <a:ext cx="6604254" cy="0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383530" y="555802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328416" y="5608320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FACTURE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676638" y="5558028"/>
            <a:ext cx="0" cy="50292"/>
          </a:xfrm>
          <a:prstGeom prst="line">
            <a:avLst/>
          </a:prstGeom>
          <a:ln w="1016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7621524" y="5608320"/>
            <a:ext cx="4110228" cy="390144"/>
          </a:xfrm>
          <a:prstGeom prst="rect">
            <a:avLst/>
          </a:prstGeom>
          <a:solidFill>
            <a:srgbClr val="EDF4F7"/>
          </a:solidFill>
          <a:ln w="8255">
            <a:solidFill>
              <a:srgbClr val="C4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Aft>
                <a:spcPts val="0"/>
              </a:spcAft>
              <a:defRPr sz="1240" b="1">
                <a:solidFill>
                  <a:srgbClr val="0E2841"/>
                </a:solidFill>
                <a:latin typeface="Aptos"/>
              </a:defRPr>
            </a:pPr>
            <a:r>
              <a:t>REGLEMENT</a:t>
            </a:r>
          </a:p>
          <a:p>
            <a:pPr algn="ctr">
              <a:spcAft>
                <a:spcPts val="0"/>
              </a:spcAft>
              <a:defRPr sz="1019" b="0">
                <a:solidFill>
                  <a:srgbClr val="0E2841"/>
                </a:solidFill>
                <a:latin typeface="Aptos"/>
              </a:defRPr>
            </a:pPr>
            <a:r>
              <a:t>reglement_id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référentiels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52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42646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42646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" y="144932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" y="17190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190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" y="18836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8836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" y="20482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0482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type_acteur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" y="22128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21284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roles_metier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" y="237744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" y="254203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54203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telephone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" y="270662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70662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adresse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142646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98848" y="142646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1708" y="144932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708" y="17190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17190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708" y="18836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9744" y="18836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708" y="20482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9744" y="20482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708" y="22128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9744" y="221284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sexe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708" y="237744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9744" y="237744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date_naissance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1708" y="254203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09744" y="254203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8784" y="1426464"/>
            <a:ext cx="3072384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558784" y="142646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81644" y="144932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ECURIE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1644" y="17190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7190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1644" y="18836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69680" y="18836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81644" y="20482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20482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adresse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81644" y="22128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221284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5212080"/>
            <a:ext cx="10972800" cy="58521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36570"/>
                </a:solidFill>
                <a:latin typeface="Aptos"/>
              </a:defRPr>
            </a:pPr>
            <a:r>
              <a:t>Ces trois tables constituent les référentiels partagés. Les domaines suivants y font référence.</a:t>
            </a:r>
          </a:p>
          <a:p>
            <a:pPr>
              <a:spcAft>
                <a:spcPts val="0"/>
              </a:spcAft>
              <a:defRPr sz="1400" b="0">
                <a:solidFill>
                  <a:srgbClr val="536570"/>
                </a:solidFill>
                <a:latin typeface="Aptos"/>
              </a:defRPr>
            </a:pPr>
            <a:r>
              <a:t>ACTEUR regroupe les intervenants internes et externes, les propriétaires et les organisations.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effectif et localisation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53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7571231" y="2523744"/>
            <a:ext cx="109729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680960" y="1591056"/>
            <a:ext cx="0" cy="932688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80960" y="1591056"/>
            <a:ext cx="1645920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89120" y="2688336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389120" y="2359152"/>
            <a:ext cx="0" cy="329184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2359152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626096" y="2523744"/>
            <a:ext cx="93268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26096" y="1591056"/>
            <a:ext cx="0" cy="932688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296912" y="1591056"/>
            <a:ext cx="329184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449056" y="2688336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449056" y="2359152"/>
            <a:ext cx="0" cy="329184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571231" y="2359152"/>
            <a:ext cx="877825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621024" y="1591056"/>
            <a:ext cx="0" cy="93268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21024" y="1591056"/>
            <a:ext cx="1261872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11296" y="2688336"/>
            <a:ext cx="822960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334256" y="2359152"/>
            <a:ext cx="0" cy="329184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34256" y="2359152"/>
            <a:ext cx="164592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11296" y="2852928"/>
            <a:ext cx="768096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79392" y="2359152"/>
            <a:ext cx="0" cy="493776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79392" y="2359152"/>
            <a:ext cx="219456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9184" y="3017520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9184" y="1591056"/>
            <a:ext cx="0" cy="1426464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11296" y="4992623"/>
            <a:ext cx="932687" cy="1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443983" y="1645919"/>
            <a:ext cx="0" cy="3346705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43983" y="1645919"/>
            <a:ext cx="329185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773168" y="1591056"/>
            <a:ext cx="0" cy="54863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773168" y="1591056"/>
            <a:ext cx="109728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4320" y="5157216"/>
            <a:ext cx="164592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4320" y="1591056"/>
            <a:ext cx="0" cy="356616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4320" y="1591056"/>
            <a:ext cx="16459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38912" y="1975104"/>
            <a:ext cx="3072384" cy="197510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MOUVEMENT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lieu_depart_id?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lieu_arrivee_id?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transporteur_id?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sens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34198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provenance_texte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" y="35844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" y="358444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destination_texte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" y="3749039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3749039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reference_bon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98848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lieu_parent_id?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type_lieu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capacite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58784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SEJOUR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date_debut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date_fin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8164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869680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motif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8912" y="4443983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38912" y="4443983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61772" y="446684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DETENTION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2" y="4901183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8" y="4901183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9808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proprietaire_id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1772" y="523036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49808" y="523036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date_debut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1772" y="5394959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8" y="5394959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date_fin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772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49808" y="555955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quote_part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82896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882896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905756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05756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93792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ECURIE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santé et 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54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852928" y="2523744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62656" y="1591056"/>
            <a:ext cx="0" cy="932688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62656" y="1591056"/>
            <a:ext cx="1920240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9184" y="2688336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9184" y="1591056"/>
            <a:ext cx="0" cy="109728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4320" y="2852928"/>
            <a:ext cx="164592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320" y="1591056"/>
            <a:ext cx="0" cy="1261872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" y="1591056"/>
            <a:ext cx="164592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15584" y="2523744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25312" y="1810512"/>
            <a:ext cx="0" cy="713232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773168" y="1810512"/>
            <a:ext cx="1152144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773168" y="1591056"/>
            <a:ext cx="0" cy="219456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73168" y="1591056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17520" y="2688336"/>
            <a:ext cx="38404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17520" y="1591056"/>
            <a:ext cx="0" cy="109728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852928" y="1591056"/>
            <a:ext cx="164592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291839" y="2852928"/>
            <a:ext cx="109729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91839" y="2852928"/>
            <a:ext cx="0" cy="2633472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852928" y="5486400"/>
            <a:ext cx="438911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15584" y="3017520"/>
            <a:ext cx="493775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309359" y="1810512"/>
            <a:ext cx="0" cy="120700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09359" y="1810512"/>
            <a:ext cx="2907793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217152" y="1591056"/>
            <a:ext cx="0" cy="219456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17152" y="1591056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217152" y="2523744"/>
            <a:ext cx="10972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17152" y="1920240"/>
            <a:ext cx="0" cy="603504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072384" y="1920240"/>
            <a:ext cx="614476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72384" y="1920240"/>
            <a:ext cx="0" cy="438912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852928" y="2359152"/>
            <a:ext cx="219456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962656" y="5650992"/>
            <a:ext cx="438912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62656" y="2359152"/>
            <a:ext cx="0" cy="329184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852928" y="2359152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3017520" y="5815583"/>
            <a:ext cx="384048" cy="1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17520" y="5486400"/>
            <a:ext cx="0" cy="329183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852928" y="5486400"/>
            <a:ext cx="164592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254496" y="2523744"/>
            <a:ext cx="109728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254496" y="1865376"/>
            <a:ext cx="0" cy="658368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127248" y="1865376"/>
            <a:ext cx="3127248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127248" y="1865376"/>
            <a:ext cx="0" cy="493776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852928" y="2359152"/>
            <a:ext cx="274320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254496" y="2688336"/>
            <a:ext cx="109728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254496" y="2688336"/>
            <a:ext cx="0" cy="2359152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017520" y="5047488"/>
            <a:ext cx="3236976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17520" y="5047488"/>
            <a:ext cx="0" cy="384048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2962656" y="5431536"/>
            <a:ext cx="54864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962656" y="5431536"/>
            <a:ext cx="0" cy="54864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852928" y="5486400"/>
            <a:ext cx="109728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925312" y="5650992"/>
            <a:ext cx="438912" cy="0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925312" y="3675887"/>
            <a:ext cx="0" cy="1975105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346703" y="3675887"/>
            <a:ext cx="2578609" cy="0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346703" y="2414015"/>
            <a:ext cx="0" cy="1261872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962656" y="2414015"/>
            <a:ext cx="384047" cy="0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962656" y="2359152"/>
            <a:ext cx="0" cy="54863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852928" y="2359152"/>
            <a:ext cx="109728" cy="0"/>
          </a:xfrm>
          <a:prstGeom prst="line">
            <a:avLst/>
          </a:prstGeom>
          <a:ln w="889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5980176" y="5815583"/>
            <a:ext cx="384048" cy="1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80176" y="2359152"/>
            <a:ext cx="0" cy="3456431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815584" y="2359152"/>
            <a:ext cx="164592" cy="0"/>
          </a:xfrm>
          <a:prstGeom prst="line">
            <a:avLst/>
          </a:prstGeom>
          <a:ln w="889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9217152" y="5650992"/>
            <a:ext cx="109728" cy="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217152" y="3730752"/>
            <a:ext cx="0" cy="192024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3072384" y="3730752"/>
            <a:ext cx="6144768" cy="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072384" y="2359152"/>
            <a:ext cx="0" cy="137160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852928" y="2359152"/>
            <a:ext cx="219456" cy="0"/>
          </a:xfrm>
          <a:prstGeom prst="line">
            <a:avLst/>
          </a:prstGeom>
          <a:ln w="889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272015" y="5815583"/>
            <a:ext cx="54865" cy="1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72015" y="1591056"/>
            <a:ext cx="0" cy="4224527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272015" y="1591056"/>
            <a:ext cx="54865" cy="0"/>
          </a:xfrm>
          <a:prstGeom prst="line">
            <a:avLst/>
          </a:prstGeom>
          <a:ln w="889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38912" y="1975104"/>
            <a:ext cx="2414016" cy="263347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38912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1772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ACTE_SANTE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intervenant_id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808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certificateur_id?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9808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type_acte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49808" y="325526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soin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49808" y="341985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delai_retrait_jours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1772" y="35844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9808" y="358444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debut_retrait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" y="3749039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9808" y="3749039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fin_retrait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772" y="3913631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9808" y="3913631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statut_certification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1772" y="407822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49808" y="407822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date_certification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1772" y="42428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9808" y="42428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type_ferrure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49808" y="440740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01568" y="1975104"/>
            <a:ext cx="2414016" cy="1645919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401568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424428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PRESCRIPTION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2442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12464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2442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12464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442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12464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prescripteur_id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442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12464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2442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12464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ordonnance_id?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2442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712464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date_prescription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24428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12464" y="325526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posologie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24428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712464" y="341985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duree_jours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364224" y="1975104"/>
            <a:ext cx="2414016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364224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87084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8708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75120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8708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75120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8708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75120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produit_id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8708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675120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8708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675120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dose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8708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675120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unite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87084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675120" y="325526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voie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326880" y="1975104"/>
            <a:ext cx="2414016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9326880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349740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EXAMEN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349740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637776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49740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637776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49740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637776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membre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349740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637776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score_boiterie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49740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637776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sensibilite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49740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637776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protocole_recommande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38912" y="5102352"/>
            <a:ext cx="24140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438912" y="5102352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61772" y="5125212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PRODUIT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1772" y="539496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8" y="539496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1772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49808" y="555955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1772" y="572414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49808" y="572414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categorie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61772" y="588873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49808" y="588873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unite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401568" y="5102352"/>
            <a:ext cx="24140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3401568" y="5102352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424428" y="5125212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VACCINATION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24428" y="539496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12464" y="539496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24428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712464" y="555955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acte_id!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24428" y="572414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712464" y="572414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vaccin_id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24428" y="588873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712464" y="588873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date_prochain_rappel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364224" y="5102352"/>
            <a:ext cx="2414016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364224" y="5102352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387084" y="5125212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ACTE_PRESCRIPTION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87084" y="539496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675120" y="539496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387084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675120" y="555955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387084" y="572414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75120" y="572414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prescription_id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326880" y="5102352"/>
            <a:ext cx="2414016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9326880" y="5102352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349740" y="5125212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ACTE_DOCUMENT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349740" y="539496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637776" y="539496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49740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637776" y="555955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acte_id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349740" y="572414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637776" y="572414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882896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882896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4905756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905756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193792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terrain et alimentation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55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 flipH="1">
            <a:off x="8449056" y="2523744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449056" y="1591056"/>
            <a:ext cx="0" cy="932688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49056" y="1591056"/>
            <a:ext cx="877824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626096" y="2688336"/>
            <a:ext cx="93268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626096" y="1810512"/>
            <a:ext cx="0" cy="877824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62656" y="1810512"/>
            <a:ext cx="4663440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62656" y="1591056"/>
            <a:ext cx="0" cy="219456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52928" y="1591056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21024" y="1591056"/>
            <a:ext cx="0" cy="932688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21024" y="1591056"/>
            <a:ext cx="1261872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11296" y="2688336"/>
            <a:ext cx="932687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43983" y="1920240"/>
            <a:ext cx="0" cy="768096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43983" y="1920240"/>
            <a:ext cx="3950209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94192" y="1920240"/>
            <a:ext cx="0" cy="438912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94192" y="2359152"/>
            <a:ext cx="164592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9184" y="4498848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9184" y="2359152"/>
            <a:ext cx="0" cy="2139696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9184" y="2359152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4320" y="4663440"/>
            <a:ext cx="164592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74320" y="1591056"/>
            <a:ext cx="0" cy="3072384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4320" y="1591056"/>
            <a:ext cx="164592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71231" y="2523744"/>
            <a:ext cx="109729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60" y="1591056"/>
            <a:ext cx="0" cy="932688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96912" y="1591056"/>
            <a:ext cx="384048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389120" y="2688336"/>
            <a:ext cx="10972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89120" y="2578608"/>
            <a:ext cx="0" cy="109728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566160" y="2578608"/>
            <a:ext cx="822960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566160" y="1591056"/>
            <a:ext cx="0" cy="987552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852928" y="1591056"/>
            <a:ext cx="71323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38912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SEANCE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lot_id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exercice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travail_prevu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travail_realise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commentaire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98848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repas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part_consommee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1708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09744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remarque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58784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responsable_id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heure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8164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869680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" y="3950208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8912" y="3950208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1772" y="3973068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AFFECTATION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" y="42428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8" y="424281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8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seance_id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8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acteur_id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8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fonction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consigne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82896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882896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905756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05756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93792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courses et déplacements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56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621024" y="1591056"/>
            <a:ext cx="0" cy="932688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21024" y="1591056"/>
            <a:ext cx="1261872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11296" y="2688336"/>
            <a:ext cx="932687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443983" y="1920240"/>
            <a:ext cx="0" cy="768096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43983" y="1920240"/>
            <a:ext cx="4005073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49056" y="1920240"/>
            <a:ext cx="0" cy="438912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49056" y="2359152"/>
            <a:ext cx="109728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9184" y="2852928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9184" y="1591056"/>
            <a:ext cx="0" cy="1261872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89120" y="4828031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389120" y="2359152"/>
            <a:ext cx="0" cy="2468879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511296" y="2359152"/>
            <a:ext cx="877824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566160" y="2523744"/>
            <a:ext cx="93268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66160" y="1591056"/>
            <a:ext cx="0" cy="932688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852928" y="1591056"/>
            <a:ext cx="71323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71231" y="2688336"/>
            <a:ext cx="93268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03919" y="1591056"/>
            <a:ext cx="0" cy="109728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19" y="1591056"/>
            <a:ext cx="822961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1231" y="2852928"/>
            <a:ext cx="109729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80960" y="1645919"/>
            <a:ext cx="0" cy="1207009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80960" y="1645919"/>
            <a:ext cx="1536192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217152" y="1591056"/>
            <a:ext cx="0" cy="54863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17152" y="1591056"/>
            <a:ext cx="109728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11296" y="4828031"/>
            <a:ext cx="822960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34256" y="1645919"/>
            <a:ext cx="0" cy="3182112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34256" y="1645919"/>
            <a:ext cx="438912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773168" y="1591056"/>
            <a:ext cx="0" cy="54863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73168" y="1591056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11296" y="4992624"/>
            <a:ext cx="768096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279392" y="2414015"/>
            <a:ext cx="0" cy="2578609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79392" y="2414015"/>
            <a:ext cx="109728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89120" y="2359152"/>
            <a:ext cx="0" cy="54863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389120" y="2359152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11296" y="5157216"/>
            <a:ext cx="932687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443983" y="3675887"/>
            <a:ext cx="0" cy="1481329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43983" y="3675887"/>
            <a:ext cx="3182113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626096" y="1536192"/>
            <a:ext cx="0" cy="2139695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26096" y="1536192"/>
            <a:ext cx="1591056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17152" y="1536192"/>
            <a:ext cx="0" cy="54864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17152" y="1591056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11296" y="5321807"/>
            <a:ext cx="54864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66160" y="2633472"/>
            <a:ext cx="0" cy="2688335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66160" y="2633472"/>
            <a:ext cx="603503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169663" y="1810512"/>
            <a:ext cx="0" cy="82296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169663" y="1810512"/>
            <a:ext cx="5047489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217152" y="1591056"/>
            <a:ext cx="0" cy="219456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17152" y="1591056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449056" y="4828031"/>
            <a:ext cx="109728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449056" y="3730752"/>
            <a:ext cx="0" cy="1097279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3675887" y="3730752"/>
            <a:ext cx="4773169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675887" y="2359152"/>
            <a:ext cx="0" cy="137160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511296" y="2359152"/>
            <a:ext cx="164591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735823" y="4992624"/>
            <a:ext cx="822961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735823" y="2359152"/>
            <a:ext cx="0" cy="2633472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571231" y="2359152"/>
            <a:ext cx="164592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438912" y="1975104"/>
            <a:ext cx="3072384" cy="181051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course_id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jockey_id?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date_engagement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49808" y="34198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resultat_controle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1772" y="358444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" y="358444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date_controle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98848" y="1975104"/>
            <a:ext cx="3072384" cy="1645919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transporteur_id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lieu_depart_id?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lieu_arrivee_id?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date_depart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date_arrivee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21708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809744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21708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09744" y="34198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consignes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58784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edition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hippodrome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8164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869680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pays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81644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869680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distance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38912" y="4279392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38912" y="4279392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61772" y="4302252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PRISE_EN_CHARGE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9808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9808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transport_id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1772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lieu_prise_id?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1772" y="523036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8" y="523036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lieu_depose_id?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1772" y="539496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49808" y="539496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heure_prise_en_charge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1772" y="555955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49808" y="555955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heure_depose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498848" y="4279392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498848" y="4279392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521708" y="4302252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RESULTAT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21708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809744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21708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09744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engagement_id!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21708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809744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rang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21708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809744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temps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21708" y="523036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809744" y="523036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commentaire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558784" y="4279392"/>
            <a:ext cx="307238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8558784" y="4279392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581644" y="4302252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ENGAGEMENT_TRANSPORT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81644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69680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581644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69680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engagement_id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81644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69680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transport_id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882896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4882896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905756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05756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193792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38912" y="6345936"/>
            <a:ext cx="10835640" cy="18288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69" b="0">
                <a:solidFill>
                  <a:srgbClr val="536570"/>
                </a:solidFill>
                <a:latin typeface="Aptos"/>
              </a:defRPr>
            </a:pPr>
            <a:r>
              <a:t>PK : identifiant unique. FK : clé étrangère. ? : lien facultatif. ! : référence unique. Blocs gris : tables d’un autre domaine.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ressources humaines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57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 flipH="1">
            <a:off x="4389120" y="2523744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389120" y="1591056"/>
            <a:ext cx="0" cy="932688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852928" y="1591056"/>
            <a:ext cx="1536192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11296" y="4663440"/>
            <a:ext cx="932687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443983" y="1591056"/>
            <a:ext cx="0" cy="3072384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43983" y="1591056"/>
            <a:ext cx="4882897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389120" y="4663440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389120" y="2359152"/>
            <a:ext cx="0" cy="230428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359152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621024" y="4828031"/>
            <a:ext cx="877824" cy="1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21024" y="4498848"/>
            <a:ext cx="0" cy="329183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511296" y="4498848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449056" y="2523744"/>
            <a:ext cx="10972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449056" y="2359152"/>
            <a:ext cx="0" cy="164592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571231" y="2359152"/>
            <a:ext cx="877825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626096" y="2688336"/>
            <a:ext cx="932688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26096" y="1645919"/>
            <a:ext cx="0" cy="1042417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62656" y="1645919"/>
            <a:ext cx="4663440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62656" y="1591056"/>
            <a:ext cx="0" cy="54863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852928" y="1591056"/>
            <a:ext cx="109728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621024" y="2359152"/>
            <a:ext cx="0" cy="164592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21024" y="2359152"/>
            <a:ext cx="877824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9184" y="2688336"/>
            <a:ext cx="109728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9184" y="1591056"/>
            <a:ext cx="0" cy="109728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38912" y="1975104"/>
            <a:ext cx="3072384" cy="1645919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ABSENCE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validateur_id?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debut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type_absence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" y="34198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date_validation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98848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EMPLOYE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acteur_id!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matricule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poste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contrat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date_entree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1708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09744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date_sortie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58784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POINTAGE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correcteur_id?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heure_entree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heure_sortie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8164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869680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duree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81644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869680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motif_correction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" y="4114800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8912" y="4114800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1772" y="4137660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CRENEAU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8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8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lieu_id?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debut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49808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772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8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activite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98848" y="4114800"/>
            <a:ext cx="307238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498848" y="4114800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521708" y="4137660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EMPLOYE_CRENEAU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21708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9744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21708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09744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employe_id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21708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9744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creneau_id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LIEU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8912" y="6345936"/>
            <a:ext cx="10835640" cy="18288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69" b="0">
                <a:solidFill>
                  <a:srgbClr val="536570"/>
                </a:solidFill>
                <a:latin typeface="Aptos"/>
              </a:defRPr>
            </a:pPr>
            <a:r>
              <a:t>PK : identifiant unique. FK : clé étrangère. ? : lien facultatif. ! : référence unique. Blocs gris : tables d’un autre domaine.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historique et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58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621024" y="1591056"/>
            <a:ext cx="0" cy="932688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21024" y="1591056"/>
            <a:ext cx="5705856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9184" y="2688336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9184" y="1591056"/>
            <a:ext cx="0" cy="109728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389120" y="4663440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389120" y="2359152"/>
            <a:ext cx="0" cy="230428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511296" y="2359152"/>
            <a:ext cx="877824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71231" y="4828031"/>
            <a:ext cx="109729" cy="1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80960" y="2359152"/>
            <a:ext cx="0" cy="2468879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2359152"/>
            <a:ext cx="877824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" y="4663440"/>
            <a:ext cx="164592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" y="2359152"/>
            <a:ext cx="0" cy="2304288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" y="2359152"/>
            <a:ext cx="16459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675887" y="2523744"/>
            <a:ext cx="822961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5887" y="2523744"/>
            <a:ext cx="0" cy="1975104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511296" y="4498848"/>
            <a:ext cx="164591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566160" y="2688336"/>
            <a:ext cx="932688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66160" y="1591056"/>
            <a:ext cx="0" cy="109728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852928" y="1591056"/>
            <a:ext cx="713232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38912" y="1975104"/>
            <a:ext cx="3072384" cy="1645919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EVENEMENT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type_evenement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texte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341985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statut_validation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98848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RECEPTION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notification_id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date_envoi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date_lecture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58784" y="1975104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type_document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date_document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uri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" y="4114800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38912" y="4114800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1772" y="4137660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evenement_id?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date_creation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9808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objet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1772" y="506577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9808" y="506577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priorite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98848" y="4114800"/>
            <a:ext cx="307238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498848" y="4114800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521708" y="4137660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EVENEMENT_DOCUMENT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21708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9744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21708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09744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evenement_id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21708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09744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document_id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8912" y="6345936"/>
            <a:ext cx="10835640" cy="18288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69" b="0">
                <a:solidFill>
                  <a:srgbClr val="536570"/>
                </a:solidFill>
                <a:latin typeface="Aptos"/>
              </a:defRPr>
            </a:pPr>
            <a:r>
              <a:t>PK : identifiant unique. FK : clé étrangère. ? : lien facultatif. ! : référence unique. Blocs gris : tables d’un autre domaine.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facturation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18466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Extension proposée</a:t>
            </a:r>
            <a:r>
              <a:t>. </a:t>
            </a:r>
            <a:r>
              <a:rPr lang="fr-FR"/>
              <a:t>Facturation non couverte par </a:t>
            </a:r>
            <a:r>
              <a:t>la </a:t>
            </a:r>
            <a:r>
              <a:rPr lang="fr-FR"/>
              <a:t>maquette présentée, solution sur étagère évoquée, arbitrage requis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59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511296" y="2523744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621024" y="1810512"/>
            <a:ext cx="0" cy="713232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21024" y="1810512"/>
            <a:ext cx="55961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217152" y="1591056"/>
            <a:ext cx="0" cy="219456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17152" y="1591056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9184" y="2688336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9184" y="1591056"/>
            <a:ext cx="0" cy="109728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389120" y="2523744"/>
            <a:ext cx="109728" cy="0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89120" y="2359152"/>
            <a:ext cx="0" cy="164592"/>
          </a:xfrm>
          <a:prstGeom prst="line">
            <a:avLst/>
          </a:prstGeom>
          <a:ln w="8890">
            <a:solidFill>
              <a:srgbClr val="38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11296" y="2359152"/>
            <a:ext cx="877824" cy="0"/>
          </a:xfrm>
          <a:prstGeom prst="line">
            <a:avLst/>
          </a:prstGeom>
          <a:ln w="8890">
            <a:solidFill>
              <a:srgbClr val="387A5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449056" y="2523744"/>
            <a:ext cx="10972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449056" y="1865376"/>
            <a:ext cx="0" cy="65836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25312" y="1865376"/>
            <a:ext cx="2523744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925312" y="1591056"/>
            <a:ext cx="0" cy="27432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815583" y="1591056"/>
            <a:ext cx="109729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503919" y="2688336"/>
            <a:ext cx="54865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503919" y="1865376"/>
            <a:ext cx="0" cy="82296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03919" y="1865376"/>
            <a:ext cx="384048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887967" y="1591056"/>
            <a:ext cx="0" cy="27432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778240" y="1591056"/>
            <a:ext cx="109727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11296" y="4498848"/>
            <a:ext cx="822960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34256" y="2359152"/>
            <a:ext cx="0" cy="2139696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34256" y="2359152"/>
            <a:ext cx="16459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11296" y="4663440"/>
            <a:ext cx="932687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443983" y="3401568"/>
            <a:ext cx="0" cy="1261872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43983" y="3401568"/>
            <a:ext cx="3950209" cy="0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394192" y="2359152"/>
            <a:ext cx="0" cy="1042416"/>
          </a:xfrm>
          <a:prstGeom prst="line">
            <a:avLst/>
          </a:prstGeom>
          <a:ln w="8890">
            <a:solidFill>
              <a:srgbClr val="735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94192" y="2359152"/>
            <a:ext cx="164592" cy="0"/>
          </a:xfrm>
          <a:prstGeom prst="line">
            <a:avLst/>
          </a:prstGeom>
          <a:ln w="8890">
            <a:solidFill>
              <a:srgbClr val="735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449056" y="4498848"/>
            <a:ext cx="109728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49056" y="3456432"/>
            <a:ext cx="0" cy="1042416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675887" y="3456432"/>
            <a:ext cx="4773169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75887" y="2359152"/>
            <a:ext cx="0" cy="109728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511296" y="2359152"/>
            <a:ext cx="164591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680960" y="4663440"/>
            <a:ext cx="877824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680960" y="4334256"/>
            <a:ext cx="0" cy="329184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571231" y="4334256"/>
            <a:ext cx="109729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38912" y="1975104"/>
            <a:ext cx="3072384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8912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1772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FACTURE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destinataire_id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numero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date_emission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9808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date_echeance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9808" y="325526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statut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98848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498848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21708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LIGNE_FACTURE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170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170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2170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170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09744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quantite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170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09744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prix_unitaire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170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9744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taux_taxe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58784" y="1975104"/>
            <a:ext cx="3072384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558784" y="1975104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81644" y="1997964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PRESTATION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8164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69680" y="226771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8164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43230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cheval_id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8164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259689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justificatif_id?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8164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869680" y="276148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8164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869680" y="292608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type_prestation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8164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869680" y="309067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montant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8912" y="3950208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38912" y="3950208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61772" y="3973068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IMPUTATION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" y="42428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8" y="424281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8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ligne_id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9808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prestation_id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9808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quantite_imputee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49808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montant_impute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98848" y="3950208"/>
            <a:ext cx="3072384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498848" y="3950208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21708" y="3973068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REGLEMENT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21708" y="42428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9744" y="424281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1708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809744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21708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809744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montant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21708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809744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21708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809744" y="4901184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58784" y="3950208"/>
            <a:ext cx="3072384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8558784" y="3950208"/>
            <a:ext cx="3072384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581644" y="3973068"/>
            <a:ext cx="3026664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AFFECTATION_PAIEMENT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81644" y="42428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69680" y="4242816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81644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0" y="4407408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facture_id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81644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69680" y="4572000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reglement_id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81644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869680" y="4736592"/>
            <a:ext cx="273405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montant_affecte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401568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3401568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24427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CHEVAL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4427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12463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364223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364223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387083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87083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675119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ECURIE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38912" y="6345936"/>
            <a:ext cx="10835640" cy="18288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69" b="0">
                <a:solidFill>
                  <a:srgbClr val="536570"/>
                </a:solidFill>
                <a:latin typeface="Aptos"/>
              </a:defRPr>
            </a:pPr>
            <a:r>
              <a:t>PK : identifiant unique. FK : clé étrangère. ? : lien facultatif. ! : référence unique. Blocs gris : tables d’un autre domaine.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0E2841"/>
                </a:solidFill>
                <a:latin typeface="Aptos"/>
              </a:defRPr>
            </a:pPr>
            <a:r>
              <a:t>Schéma relationnel : accès, interfaces et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247120" cy="36576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536570"/>
                </a:solidFill>
                <a:latin typeface="Aptos"/>
              </a:defRPr>
            </a:pPr>
            <a:r>
              <a:t>Modèle proposé. Chaque bloc présente les champs de la table. Les liens relient les clés étrangères à l’identifiant de leur table 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0272" y="6537960"/>
            <a:ext cx="411480" cy="153888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36570"/>
                </a:solidFill>
                <a:latin typeface="Aptos"/>
              </a:defRPr>
            </a:pPr>
            <a:r>
              <a:rPr lang="fr-FR"/>
              <a:t>60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 flipH="1">
            <a:off x="329184" y="4663440"/>
            <a:ext cx="109728" cy="0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9184" y="1591056"/>
            <a:ext cx="0" cy="3072384"/>
          </a:xfrm>
          <a:prstGeom prst="line">
            <a:avLst/>
          </a:prstGeom>
          <a:ln w="889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9184" y="1591056"/>
            <a:ext cx="109728" cy="0"/>
          </a:xfrm>
          <a:prstGeom prst="line">
            <a:avLst/>
          </a:prstGeom>
          <a:ln w="8890">
            <a:solidFill>
              <a:srgbClr val="1560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91839" y="4663440"/>
            <a:ext cx="109729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91839" y="4498848"/>
            <a:ext cx="0" cy="164592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52928" y="4498848"/>
            <a:ext cx="438911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815584" y="4828031"/>
            <a:ext cx="109728" cy="1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2" y="4828031"/>
            <a:ext cx="0" cy="219457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25312" y="5047488"/>
            <a:ext cx="3291840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17152" y="4498848"/>
            <a:ext cx="0" cy="54864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17152" y="4498848"/>
            <a:ext cx="109728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15584" y="4992624"/>
            <a:ext cx="493775" cy="0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309359" y="1591056"/>
            <a:ext cx="0" cy="3401568"/>
          </a:xfrm>
          <a:prstGeom prst="line">
            <a:avLst/>
          </a:prstGeom>
          <a:ln w="8890">
            <a:solidFill>
              <a:srgbClr val="9B5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9359" y="1591056"/>
            <a:ext cx="3017521" cy="0"/>
          </a:xfrm>
          <a:prstGeom prst="line">
            <a:avLst/>
          </a:prstGeom>
          <a:ln w="8890">
            <a:solidFill>
              <a:srgbClr val="9B5B2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4663440"/>
            <a:ext cx="109727" cy="0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887967" y="4498848"/>
            <a:ext cx="0" cy="164592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87967" y="4498848"/>
            <a:ext cx="438913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778240" y="4828031"/>
            <a:ext cx="384048" cy="1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62288" y="2359152"/>
            <a:ext cx="0" cy="2468879"/>
          </a:xfrm>
          <a:prstGeom prst="line">
            <a:avLst/>
          </a:prstGeom>
          <a:ln w="8890">
            <a:solidFill>
              <a:srgbClr val="B84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62288" y="2359152"/>
            <a:ext cx="164592" cy="0"/>
          </a:xfrm>
          <a:prstGeom prst="line">
            <a:avLst/>
          </a:prstGeom>
          <a:ln w="8890">
            <a:solidFill>
              <a:srgbClr val="B84C5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74320" y="2523744"/>
            <a:ext cx="164592" cy="0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4320" y="2523744"/>
            <a:ext cx="0" cy="1975104"/>
          </a:xfrm>
          <a:prstGeom prst="line">
            <a:avLst/>
          </a:prstGeom>
          <a:ln w="8890">
            <a:solidFill>
              <a:srgbClr val="39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4320" y="4498848"/>
            <a:ext cx="164592" cy="0"/>
          </a:xfrm>
          <a:prstGeom prst="line">
            <a:avLst/>
          </a:prstGeom>
          <a:ln w="8890">
            <a:solidFill>
              <a:srgbClr val="397D9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962656" y="2523744"/>
            <a:ext cx="438912" cy="0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62656" y="2523744"/>
            <a:ext cx="0" cy="1975104"/>
          </a:xfrm>
          <a:prstGeom prst="line">
            <a:avLst/>
          </a:prstGeom>
          <a:ln w="8890">
            <a:solidFill>
              <a:srgbClr val="737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852928" y="4498848"/>
            <a:ext cx="109728" cy="0"/>
          </a:xfrm>
          <a:prstGeom prst="line">
            <a:avLst/>
          </a:prstGeom>
          <a:ln w="8890">
            <a:solidFill>
              <a:srgbClr val="73703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254496" y="2523744"/>
            <a:ext cx="109728" cy="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54496" y="2523744"/>
            <a:ext cx="0" cy="1536191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017520" y="4059935"/>
            <a:ext cx="3236976" cy="0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17520" y="4059935"/>
            <a:ext cx="0" cy="438913"/>
          </a:xfrm>
          <a:prstGeom prst="line">
            <a:avLst/>
          </a:prstGeom>
          <a:ln w="8890">
            <a:solidFill>
              <a:srgbClr val="5C6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852928" y="4498848"/>
            <a:ext cx="164592" cy="0"/>
          </a:xfrm>
          <a:prstGeom prst="line">
            <a:avLst/>
          </a:prstGeom>
          <a:ln w="8890">
            <a:solidFill>
              <a:srgbClr val="5C69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38912" y="1975104"/>
            <a:ext cx="2414016" cy="1645919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12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initiateur_id?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8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sens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etat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" y="325526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325526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anomalies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" y="341985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341985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correspondances_identifiants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1975104"/>
            <a:ext cx="2414016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01568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24428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REQUETE_IA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4428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12464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4428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12464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4428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12464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date_heure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4428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12464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4428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712464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reponse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4428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12464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contexte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64224" y="1975104"/>
            <a:ext cx="2414016" cy="1316736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364224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87084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ARTICLE_AIDE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87084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7084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auteur_id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87084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75120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titre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87084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75120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theme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87084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675120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contenu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7084" y="309067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675120" y="309067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26880" y="1975104"/>
            <a:ext cx="2414016" cy="1152143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326880" y="1975104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49740" y="1997964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49740" y="226771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37776" y="226771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49740" y="243230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37776" y="243230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49740" y="259689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637776" y="259689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49740" y="276148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637776" y="276148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ressource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49740" y="292608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37776" y="292608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912" y="4114800"/>
            <a:ext cx="24140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38912" y="4114800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61772" y="4137660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COMPTE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1772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8" y="440740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772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9808" y="457200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acteur_id!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1772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49808" y="473659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1772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8" y="490118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etat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01568" y="4114800"/>
            <a:ext cx="2414016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01568" y="4114800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424428" y="4137660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HABILITATION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24428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12464" y="440740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24428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12464" y="457200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compte_id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24428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12464" y="473659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24428" y="4901184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712464" y="4901184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ecurie_id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64224" y="4114800"/>
            <a:ext cx="2414016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364224" y="4114800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387084" y="4137660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ROLE_PERMISSION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87084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5120" y="440740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87084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75120" y="457200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role_id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87084" y="4736592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75120" y="4736592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permission_id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326880" y="4114800"/>
            <a:ext cx="2414016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326880" y="4114800"/>
            <a:ext cx="2414016" cy="274320"/>
          </a:xfrm>
          <a:prstGeom prst="rect">
            <a:avLst/>
          </a:prstGeom>
          <a:solidFill>
            <a:srgbClr val="156082"/>
          </a:solidFill>
          <a:ln w="762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349740" y="4137660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49740" y="4407408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37776" y="4407408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49740" y="4572000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637776" y="4572000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libelle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8912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38912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61772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ACTEUR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1772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326880" y="1207008"/>
            <a:ext cx="2414016" cy="493776"/>
          </a:xfrm>
          <a:prstGeom prst="rect">
            <a:avLst/>
          </a:prstGeom>
          <a:solidFill>
            <a:srgbClr val="F5F7F8"/>
          </a:solidFill>
          <a:ln w="7620">
            <a:solidFill>
              <a:srgbClr val="A7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326880" y="1207008"/>
            <a:ext cx="2414016" cy="274320"/>
          </a:xfrm>
          <a:prstGeom prst="rect">
            <a:avLst/>
          </a:prstGeom>
          <a:solidFill>
            <a:srgbClr val="647C89"/>
          </a:solidFill>
          <a:ln w="7620">
            <a:solidFill>
              <a:srgbClr val="647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349740" y="1229868"/>
            <a:ext cx="2368296" cy="219456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1040" b="1">
                <a:solidFill>
                  <a:srgbClr val="FFFFFF"/>
                </a:solidFill>
                <a:latin typeface="Aptos"/>
              </a:defRPr>
            </a:pPr>
            <a:r>
              <a:t>ECURIE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49740" y="1499616"/>
            <a:ext cx="265176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880" b="1">
                <a:solidFill>
                  <a:srgbClr val="156082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37776" y="1499616"/>
            <a:ext cx="2075688" cy="164592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0E2841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38912" y="6345936"/>
            <a:ext cx="10835640" cy="182880"/>
          </a:xfrm>
          <a:prstGeom prst="rect">
            <a:avLst/>
          </a:prstGeom>
          <a:noFill/>
        </p:spPr>
        <p:txBody>
          <a:bodyPr wrap="square" lIns="50292" tIns="0" rIns="50292" bIns="0">
            <a:spAutoFit/>
          </a:bodyPr>
          <a:lstStyle/>
          <a:p>
            <a:pPr>
              <a:spcAft>
                <a:spcPts val="0"/>
              </a:spcAft>
              <a:defRPr sz="969" b="0">
                <a:solidFill>
                  <a:srgbClr val="536570"/>
                </a:solidFill>
                <a:latin typeface="Aptos"/>
              </a:defRPr>
            </a:pPr>
            <a:r>
              <a:t>PK : identifiant unique. FK : clé étrangère. ? : lien facultatif. ! : référence unique. Blocs gris : tables d’un autre domaine.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BCC4-CA6F-9608-E513-693ED168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nning de réalisation – Projet Factory IA (12 semaines)"/>
          <p:cNvSpPr txBox="1"/>
          <p:nvPr/>
        </p:nvSpPr>
        <p:spPr>
          <a:xfrm>
            <a:off x="142875" y="112856"/>
            <a:ext cx="11882438" cy="35394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71F5D"/>
                </a:solidFill>
                <a:latin typeface="Arial"/>
              </a:defRPr>
            </a:pPr>
            <a:r>
              <a:rPr lang="fr-FR" dirty="0"/>
              <a:t>RACING </a:t>
            </a:r>
            <a:r>
              <a:rPr dirty="0"/>
              <a:t>Planning de </a:t>
            </a:r>
            <a:r>
              <a:rPr dirty="0" err="1"/>
              <a:t>réalisation</a:t>
            </a:r>
            <a:r>
              <a:rPr dirty="0"/>
              <a:t> – </a:t>
            </a:r>
            <a:r>
              <a:rPr dirty="0" err="1"/>
              <a:t>Projet</a:t>
            </a:r>
            <a:r>
              <a:rPr dirty="0"/>
              <a:t> </a:t>
            </a:r>
            <a:r>
              <a:rPr lang="fr-FR" dirty="0"/>
              <a:t>Glass </a:t>
            </a:r>
            <a:r>
              <a:rPr dirty="0"/>
              <a:t>Factory IA (12 </a:t>
            </a:r>
            <a:r>
              <a:rPr dirty="0" err="1"/>
              <a:t>semaines</a:t>
            </a:r>
            <a:r>
              <a:rPr lang="fr-FR" dirty="0"/>
              <a:t> – 1</a:t>
            </a:r>
            <a:r>
              <a:rPr lang="fr-FR" baseline="30000" dirty="0"/>
              <a:t>er</a:t>
            </a:r>
            <a:r>
              <a:rPr lang="fr-FR" dirty="0"/>
              <a:t> LOT</a:t>
            </a:r>
            <a:r>
              <a:rPr dirty="0"/>
              <a:t>)</a:t>
            </a:r>
          </a:p>
        </p:txBody>
      </p:sp>
      <p:sp>
        <p:nvSpPr>
          <p:cNvPr id="6" name="Grille du planning"/>
          <p:cNvSpPr/>
          <p:nvPr/>
        </p:nvSpPr>
        <p:spPr>
          <a:xfrm>
            <a:off x="47625" y="811352"/>
            <a:ext cx="12096750" cy="5335587"/>
          </a:xfrm>
          <a:prstGeom prst="rect">
            <a:avLst/>
          </a:prstGeom>
          <a:solidFill>
            <a:srgbClr val="FAFBFC"/>
          </a:solidFill>
          <a:ln w="4445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éparation semaine"/>
          <p:cNvSpPr/>
          <p:nvPr/>
        </p:nvSpPr>
        <p:spPr>
          <a:xfrm>
            <a:off x="1976437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éparation semaine"/>
          <p:cNvSpPr/>
          <p:nvPr/>
        </p:nvSpPr>
        <p:spPr>
          <a:xfrm>
            <a:off x="2823765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éparation semaine"/>
          <p:cNvSpPr/>
          <p:nvPr/>
        </p:nvSpPr>
        <p:spPr>
          <a:xfrm>
            <a:off x="3671093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éparation semaine"/>
          <p:cNvSpPr/>
          <p:nvPr/>
        </p:nvSpPr>
        <p:spPr>
          <a:xfrm>
            <a:off x="4518421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éparation semaine"/>
          <p:cNvSpPr/>
          <p:nvPr/>
        </p:nvSpPr>
        <p:spPr>
          <a:xfrm>
            <a:off x="5365750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éparation semaine"/>
          <p:cNvSpPr/>
          <p:nvPr/>
        </p:nvSpPr>
        <p:spPr>
          <a:xfrm>
            <a:off x="6213078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éparation semaine"/>
          <p:cNvSpPr/>
          <p:nvPr/>
        </p:nvSpPr>
        <p:spPr>
          <a:xfrm>
            <a:off x="7060406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éparation semaine"/>
          <p:cNvSpPr/>
          <p:nvPr/>
        </p:nvSpPr>
        <p:spPr>
          <a:xfrm>
            <a:off x="7907734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éparation semaine"/>
          <p:cNvSpPr/>
          <p:nvPr/>
        </p:nvSpPr>
        <p:spPr>
          <a:xfrm>
            <a:off x="8755062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éparation semaine"/>
          <p:cNvSpPr/>
          <p:nvPr/>
        </p:nvSpPr>
        <p:spPr>
          <a:xfrm>
            <a:off x="9602390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éparation semaine"/>
          <p:cNvSpPr/>
          <p:nvPr/>
        </p:nvSpPr>
        <p:spPr>
          <a:xfrm>
            <a:off x="10449718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éparation semaine"/>
          <p:cNvSpPr/>
          <p:nvPr/>
        </p:nvSpPr>
        <p:spPr>
          <a:xfrm>
            <a:off x="11297046" y="811352"/>
            <a:ext cx="6667" cy="5335587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éparation persona"/>
          <p:cNvSpPr/>
          <p:nvPr/>
        </p:nvSpPr>
        <p:spPr>
          <a:xfrm>
            <a:off x="47625" y="1212524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éparation persona"/>
          <p:cNvSpPr/>
          <p:nvPr/>
        </p:nvSpPr>
        <p:spPr>
          <a:xfrm>
            <a:off x="47625" y="1894516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éparation persona"/>
          <p:cNvSpPr/>
          <p:nvPr/>
        </p:nvSpPr>
        <p:spPr>
          <a:xfrm>
            <a:off x="47625" y="2656743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éparation persona"/>
          <p:cNvSpPr/>
          <p:nvPr/>
        </p:nvSpPr>
        <p:spPr>
          <a:xfrm>
            <a:off x="47625" y="3378852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éparation persona"/>
          <p:cNvSpPr/>
          <p:nvPr/>
        </p:nvSpPr>
        <p:spPr>
          <a:xfrm>
            <a:off x="47625" y="4361724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éparation persona"/>
          <p:cNvSpPr/>
          <p:nvPr/>
        </p:nvSpPr>
        <p:spPr>
          <a:xfrm>
            <a:off x="47625" y="5264361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éparation persona"/>
          <p:cNvSpPr/>
          <p:nvPr/>
        </p:nvSpPr>
        <p:spPr>
          <a:xfrm>
            <a:off x="47625" y="6146939"/>
            <a:ext cx="12096750" cy="702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n-tête planning"/>
          <p:cNvSpPr/>
          <p:nvPr/>
        </p:nvSpPr>
        <p:spPr>
          <a:xfrm>
            <a:off x="47625" y="811352"/>
            <a:ext cx="12096750" cy="401172"/>
          </a:xfrm>
          <a:prstGeom prst="rect">
            <a:avLst/>
          </a:prstGeom>
          <a:solidFill>
            <a:srgbClr val="063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ersona / Semaine"/>
          <p:cNvSpPr txBox="1"/>
          <p:nvPr/>
        </p:nvSpPr>
        <p:spPr>
          <a:xfrm>
            <a:off x="142875" y="831410"/>
            <a:ext cx="1762125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Persona / Semaine</a:t>
            </a:r>
          </a:p>
        </p:txBody>
      </p:sp>
      <p:sp>
        <p:nvSpPr>
          <p:cNvPr id="28" name="Séparation en-tête"/>
          <p:cNvSpPr/>
          <p:nvPr/>
        </p:nvSpPr>
        <p:spPr>
          <a:xfrm>
            <a:off x="1976437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1"/>
          <p:cNvSpPr txBox="1"/>
          <p:nvPr/>
        </p:nvSpPr>
        <p:spPr>
          <a:xfrm>
            <a:off x="1976437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S1</a:t>
            </a:r>
          </a:p>
        </p:txBody>
      </p:sp>
      <p:sp>
        <p:nvSpPr>
          <p:cNvPr id="30" name="Séparation en-tête"/>
          <p:cNvSpPr/>
          <p:nvPr/>
        </p:nvSpPr>
        <p:spPr>
          <a:xfrm>
            <a:off x="2823765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2"/>
          <p:cNvSpPr txBox="1"/>
          <p:nvPr/>
        </p:nvSpPr>
        <p:spPr>
          <a:xfrm>
            <a:off x="2823765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S2</a:t>
            </a:r>
          </a:p>
        </p:txBody>
      </p:sp>
      <p:sp>
        <p:nvSpPr>
          <p:cNvPr id="32" name="Séparation en-tête"/>
          <p:cNvSpPr/>
          <p:nvPr/>
        </p:nvSpPr>
        <p:spPr>
          <a:xfrm>
            <a:off x="3671093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3"/>
          <p:cNvSpPr txBox="1"/>
          <p:nvPr/>
        </p:nvSpPr>
        <p:spPr>
          <a:xfrm>
            <a:off x="3671093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S3</a:t>
            </a:r>
          </a:p>
        </p:txBody>
      </p:sp>
      <p:sp>
        <p:nvSpPr>
          <p:cNvPr id="34" name="Séparation en-tête"/>
          <p:cNvSpPr/>
          <p:nvPr/>
        </p:nvSpPr>
        <p:spPr>
          <a:xfrm>
            <a:off x="4518421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4"/>
          <p:cNvSpPr txBox="1"/>
          <p:nvPr/>
        </p:nvSpPr>
        <p:spPr>
          <a:xfrm>
            <a:off x="4518421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S4</a:t>
            </a:r>
          </a:p>
        </p:txBody>
      </p:sp>
      <p:sp>
        <p:nvSpPr>
          <p:cNvPr id="36" name="Séparation en-tête"/>
          <p:cNvSpPr/>
          <p:nvPr/>
        </p:nvSpPr>
        <p:spPr>
          <a:xfrm>
            <a:off x="5365750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S5"/>
          <p:cNvSpPr txBox="1"/>
          <p:nvPr/>
        </p:nvSpPr>
        <p:spPr>
          <a:xfrm>
            <a:off x="5365750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S5</a:t>
            </a:r>
          </a:p>
        </p:txBody>
      </p:sp>
      <p:sp>
        <p:nvSpPr>
          <p:cNvPr id="38" name="Séparation en-tête"/>
          <p:cNvSpPr/>
          <p:nvPr/>
        </p:nvSpPr>
        <p:spPr>
          <a:xfrm>
            <a:off x="6213078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6"/>
          <p:cNvSpPr txBox="1"/>
          <p:nvPr/>
        </p:nvSpPr>
        <p:spPr>
          <a:xfrm>
            <a:off x="6213078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S6</a:t>
            </a:r>
          </a:p>
        </p:txBody>
      </p:sp>
      <p:sp>
        <p:nvSpPr>
          <p:cNvPr id="40" name="Séparation en-tête"/>
          <p:cNvSpPr/>
          <p:nvPr/>
        </p:nvSpPr>
        <p:spPr>
          <a:xfrm>
            <a:off x="7060406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S7"/>
          <p:cNvSpPr txBox="1"/>
          <p:nvPr/>
        </p:nvSpPr>
        <p:spPr>
          <a:xfrm>
            <a:off x="7060406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S7</a:t>
            </a:r>
          </a:p>
        </p:txBody>
      </p:sp>
      <p:sp>
        <p:nvSpPr>
          <p:cNvPr id="42" name="Séparation en-tête"/>
          <p:cNvSpPr/>
          <p:nvPr/>
        </p:nvSpPr>
        <p:spPr>
          <a:xfrm>
            <a:off x="7907734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S8"/>
          <p:cNvSpPr txBox="1"/>
          <p:nvPr/>
        </p:nvSpPr>
        <p:spPr>
          <a:xfrm>
            <a:off x="7907734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S8</a:t>
            </a:r>
          </a:p>
        </p:txBody>
      </p:sp>
      <p:sp>
        <p:nvSpPr>
          <p:cNvPr id="44" name="Séparation en-tête"/>
          <p:cNvSpPr/>
          <p:nvPr/>
        </p:nvSpPr>
        <p:spPr>
          <a:xfrm>
            <a:off x="8755062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S9"/>
          <p:cNvSpPr txBox="1"/>
          <p:nvPr/>
        </p:nvSpPr>
        <p:spPr>
          <a:xfrm>
            <a:off x="8755062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S9</a:t>
            </a:r>
          </a:p>
        </p:txBody>
      </p:sp>
      <p:sp>
        <p:nvSpPr>
          <p:cNvPr id="46" name="Séparation en-tête"/>
          <p:cNvSpPr/>
          <p:nvPr/>
        </p:nvSpPr>
        <p:spPr>
          <a:xfrm>
            <a:off x="9602390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S10"/>
          <p:cNvSpPr txBox="1"/>
          <p:nvPr/>
        </p:nvSpPr>
        <p:spPr>
          <a:xfrm>
            <a:off x="9602390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S10</a:t>
            </a:r>
          </a:p>
        </p:txBody>
      </p:sp>
      <p:sp>
        <p:nvSpPr>
          <p:cNvPr id="48" name="Séparation en-tête"/>
          <p:cNvSpPr/>
          <p:nvPr/>
        </p:nvSpPr>
        <p:spPr>
          <a:xfrm>
            <a:off x="10449718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S11"/>
          <p:cNvSpPr txBox="1"/>
          <p:nvPr/>
        </p:nvSpPr>
        <p:spPr>
          <a:xfrm>
            <a:off x="10449718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S11</a:t>
            </a:r>
          </a:p>
        </p:txBody>
      </p:sp>
      <p:sp>
        <p:nvSpPr>
          <p:cNvPr id="50" name="Séparation en-tête"/>
          <p:cNvSpPr/>
          <p:nvPr/>
        </p:nvSpPr>
        <p:spPr>
          <a:xfrm>
            <a:off x="11297046" y="811352"/>
            <a:ext cx="7143" cy="401172"/>
          </a:xfrm>
          <a:prstGeom prst="rect">
            <a:avLst/>
          </a:prstGeom>
          <a:solidFill>
            <a:srgbClr val="71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12"/>
          <p:cNvSpPr txBox="1"/>
          <p:nvPr/>
        </p:nvSpPr>
        <p:spPr>
          <a:xfrm>
            <a:off x="11297046" y="831410"/>
            <a:ext cx="847328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S12</a:t>
            </a:r>
          </a:p>
        </p:txBody>
      </p:sp>
      <p:sp>
        <p:nvSpPr>
          <p:cNvPr id="52" name="Product Owner"/>
          <p:cNvSpPr txBox="1"/>
          <p:nvPr/>
        </p:nvSpPr>
        <p:spPr>
          <a:xfrm>
            <a:off x="166687" y="1259221"/>
            <a:ext cx="1785937" cy="3077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lang="fr-FR"/>
              <a:t>Responsable </a:t>
            </a:r>
            <a:r>
              <a:rPr lang="fr-FR" dirty="0"/>
              <a:t>de projet / </a:t>
            </a:r>
            <a:r>
              <a:rPr dirty="0"/>
              <a:t>Product Owner</a:t>
            </a:r>
          </a:p>
        </p:txBody>
      </p:sp>
      <p:sp>
        <p:nvSpPr>
          <p:cNvPr id="53" name="Vision produit, priorisation et pilotage"/>
          <p:cNvSpPr txBox="1"/>
          <p:nvPr/>
        </p:nvSpPr>
        <p:spPr>
          <a:xfrm>
            <a:off x="166687" y="1533461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Vision produit, priorisation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et pilotage</a:t>
            </a:r>
          </a:p>
        </p:txBody>
      </p:sp>
      <p:sp>
        <p:nvSpPr>
          <p:cNvPr id="54" name="Équipe de développement"/>
          <p:cNvSpPr txBox="1"/>
          <p:nvPr/>
        </p:nvSpPr>
        <p:spPr>
          <a:xfrm>
            <a:off x="166687" y="2014868"/>
            <a:ext cx="1785937" cy="24070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t>Équipe de développement</a:t>
            </a:r>
          </a:p>
        </p:txBody>
      </p:sp>
      <p:sp>
        <p:nvSpPr>
          <p:cNvPr id="55" name="Conception, développement et livraison"/>
          <p:cNvSpPr txBox="1"/>
          <p:nvPr/>
        </p:nvSpPr>
        <p:spPr>
          <a:xfrm>
            <a:off x="166687" y="2255571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Conception, développement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et livraison</a:t>
            </a:r>
          </a:p>
        </p:txBody>
      </p:sp>
      <p:sp>
        <p:nvSpPr>
          <p:cNvPr id="56" name="Support Factory IA"/>
          <p:cNvSpPr txBox="1"/>
          <p:nvPr/>
        </p:nvSpPr>
        <p:spPr>
          <a:xfrm>
            <a:off x="166687" y="2777094"/>
            <a:ext cx="1785937" cy="24070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t>Support Factory IA</a:t>
            </a:r>
          </a:p>
        </p:txBody>
      </p:sp>
      <p:sp>
        <p:nvSpPr>
          <p:cNvPr id="57" name="Expertise, assistance et savoir-faire"/>
          <p:cNvSpPr txBox="1"/>
          <p:nvPr/>
        </p:nvSpPr>
        <p:spPr>
          <a:xfrm>
            <a:off x="166687" y="3017798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Expertise, assistance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et savoir-faire</a:t>
            </a:r>
          </a:p>
        </p:txBody>
      </p:sp>
      <p:sp>
        <p:nvSpPr>
          <p:cNvPr id="58" name="Architecte AWS / DevOps / AIOps"/>
          <p:cNvSpPr txBox="1"/>
          <p:nvPr/>
        </p:nvSpPr>
        <p:spPr>
          <a:xfrm>
            <a:off x="166687" y="3479146"/>
            <a:ext cx="1785937" cy="361054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dirty="0"/>
              <a:t>Architecte AWS 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dirty="0"/>
              <a:t>DevOps / AIOps</a:t>
            </a:r>
          </a:p>
        </p:txBody>
      </p:sp>
      <p:sp>
        <p:nvSpPr>
          <p:cNvPr id="59" name="Infrastructure, sécurité et performance"/>
          <p:cNvSpPr txBox="1"/>
          <p:nvPr/>
        </p:nvSpPr>
        <p:spPr>
          <a:xfrm>
            <a:off x="166687" y="3840200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Infrastructure, sécurité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et performance</a:t>
            </a:r>
          </a:p>
        </p:txBody>
      </p:sp>
      <p:sp>
        <p:nvSpPr>
          <p:cNvPr id="60" name="Client &amp; utilisateurs clés"/>
          <p:cNvSpPr txBox="1"/>
          <p:nvPr/>
        </p:nvSpPr>
        <p:spPr>
          <a:xfrm>
            <a:off x="166687" y="4482076"/>
            <a:ext cx="1785937" cy="24070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t>Client &amp; utilisateurs clés</a:t>
            </a:r>
          </a:p>
        </p:txBody>
      </p:sp>
      <p:sp>
        <p:nvSpPr>
          <p:cNvPr id="61" name="Contribution, validation et adoption"/>
          <p:cNvSpPr txBox="1"/>
          <p:nvPr/>
        </p:nvSpPr>
        <p:spPr>
          <a:xfrm>
            <a:off x="166687" y="4722779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Contribution,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et adoption</a:t>
            </a:r>
          </a:p>
        </p:txBody>
      </p:sp>
      <p:sp>
        <p:nvSpPr>
          <p:cNvPr id="62" name="Jalons projet"/>
          <p:cNvSpPr txBox="1"/>
          <p:nvPr/>
        </p:nvSpPr>
        <p:spPr>
          <a:xfrm>
            <a:off x="166687" y="5384713"/>
            <a:ext cx="1785937" cy="24070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t>Jalons projet</a:t>
            </a:r>
          </a:p>
        </p:txBody>
      </p:sp>
      <p:sp>
        <p:nvSpPr>
          <p:cNvPr id="63" name="Points de décision clés"/>
          <p:cNvSpPr txBox="1"/>
          <p:nvPr/>
        </p:nvSpPr>
        <p:spPr>
          <a:xfrm>
            <a:off x="166687" y="5625416"/>
            <a:ext cx="1762125" cy="38111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7485A3"/>
                </a:solidFill>
                <a:latin typeface="Arial"/>
              </a:defRPr>
            </a:pPr>
            <a:r>
              <a:t>Points de décision clés</a:t>
            </a:r>
          </a:p>
        </p:txBody>
      </p:sp>
      <p:sp>
        <p:nvSpPr>
          <p:cNvPr id="64" name="Cadrage besoins, préparation maquettes et parcours"/>
          <p:cNvSpPr/>
          <p:nvPr/>
        </p:nvSpPr>
        <p:spPr>
          <a:xfrm>
            <a:off x="2024062" y="1332875"/>
            <a:ext cx="1404937" cy="461347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Cadrage besoins,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préparation maquettes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et parcours</a:t>
            </a:r>
          </a:p>
        </p:txBody>
      </p:sp>
      <p:sp>
        <p:nvSpPr>
          <p:cNvPr id="65" name="Validation backlog et priorisation"/>
          <p:cNvSpPr/>
          <p:nvPr/>
        </p:nvSpPr>
        <p:spPr>
          <a:xfrm>
            <a:off x="3476625" y="1332875"/>
            <a:ext cx="1143000" cy="461347"/>
          </a:xfrm>
          <a:prstGeom prst="roundRect">
            <a:avLst>
              <a:gd name="adj" fmla="val 8000"/>
            </a:avLst>
          </a:prstGeom>
          <a:solidFill>
            <a:srgbClr val="55A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Validation backlog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et priorisation</a:t>
            </a:r>
          </a:p>
        </p:txBody>
      </p:sp>
      <p:sp>
        <p:nvSpPr>
          <p:cNvPr id="66" name="Clarification continue et recette visuelle"/>
          <p:cNvSpPr/>
          <p:nvPr/>
        </p:nvSpPr>
        <p:spPr>
          <a:xfrm>
            <a:off x="4691062" y="1372992"/>
            <a:ext cx="4857750" cy="361054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Clarification continue et recette visuelle</a:t>
            </a:r>
          </a:p>
        </p:txBody>
      </p:sp>
      <p:sp>
        <p:nvSpPr>
          <p:cNvPr id="67" name="Préparation et pilotage UAT"/>
          <p:cNvSpPr/>
          <p:nvPr/>
        </p:nvSpPr>
        <p:spPr>
          <a:xfrm>
            <a:off x="9596437" y="1372992"/>
            <a:ext cx="2500312" cy="361054"/>
          </a:xfrm>
          <a:prstGeom prst="roundRect">
            <a:avLst>
              <a:gd name="adj" fmla="val 8000"/>
            </a:avLst>
          </a:prstGeom>
          <a:solidFill>
            <a:srgbClr val="7D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Préparation et pilotage UAT</a:t>
            </a:r>
          </a:p>
        </p:txBody>
      </p:sp>
      <p:sp>
        <p:nvSpPr>
          <p:cNvPr id="68" name="Recrutement / mobilisation et onboarding"/>
          <p:cNvSpPr/>
          <p:nvPr/>
        </p:nvSpPr>
        <p:spPr>
          <a:xfrm>
            <a:off x="2024062" y="2034926"/>
            <a:ext cx="762000" cy="441289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Recrutement 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mobilisation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et onboarding</a:t>
            </a:r>
          </a:p>
        </p:txBody>
      </p:sp>
      <p:sp>
        <p:nvSpPr>
          <p:cNvPr id="69" name="Montée en compétence Factory, outils et environnement"/>
          <p:cNvSpPr/>
          <p:nvPr/>
        </p:nvSpPr>
        <p:spPr>
          <a:xfrm>
            <a:off x="2833687" y="2034926"/>
            <a:ext cx="1190625" cy="441289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Montée en compétence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Factory, outils 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063567"/>
                </a:solidFill>
                <a:latin typeface="Arial"/>
              </a:defRPr>
            </a:pPr>
            <a:r>
              <a:t>environnement</a:t>
            </a:r>
          </a:p>
        </p:txBody>
      </p:sp>
      <p:sp>
        <p:nvSpPr>
          <p:cNvPr id="70" name="Paramétrage Factory et essais"/>
          <p:cNvSpPr/>
          <p:nvPr/>
        </p:nvSpPr>
        <p:spPr>
          <a:xfrm>
            <a:off x="4071937" y="2054985"/>
            <a:ext cx="1238250" cy="401172"/>
          </a:xfrm>
          <a:prstGeom prst="roundRect">
            <a:avLst>
              <a:gd name="adj" fmla="val 8000"/>
            </a:avLst>
          </a:prstGeom>
          <a:solidFill>
            <a:srgbClr val="55A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063567"/>
                </a:solidFill>
                <a:latin typeface="Arial"/>
              </a:defRPr>
            </a:pPr>
            <a:r>
              <a:t>Paramétrage Factory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063567"/>
                </a:solidFill>
                <a:latin typeface="Arial"/>
              </a:defRPr>
            </a:pPr>
            <a:r>
              <a:t>et essais</a:t>
            </a:r>
          </a:p>
        </p:txBody>
      </p:sp>
      <p:sp>
        <p:nvSpPr>
          <p:cNvPr id="71" name="Développement incrémental"/>
          <p:cNvSpPr/>
          <p:nvPr/>
        </p:nvSpPr>
        <p:spPr>
          <a:xfrm>
            <a:off x="5357812" y="2054985"/>
            <a:ext cx="4143375" cy="401172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Développement incrémental</a:t>
            </a:r>
          </a:p>
        </p:txBody>
      </p:sp>
      <p:sp>
        <p:nvSpPr>
          <p:cNvPr id="72" name="Corrections / stabilisation"/>
          <p:cNvSpPr/>
          <p:nvPr/>
        </p:nvSpPr>
        <p:spPr>
          <a:xfrm>
            <a:off x="9548812" y="2054985"/>
            <a:ext cx="1524000" cy="401172"/>
          </a:xfrm>
          <a:prstGeom prst="roundRect">
            <a:avLst>
              <a:gd name="adj" fmla="val 8000"/>
            </a:avLst>
          </a:prstGeom>
          <a:solidFill>
            <a:srgbClr val="7D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Corrections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stabilisation</a:t>
            </a:r>
          </a:p>
        </p:txBody>
      </p:sp>
      <p:sp>
        <p:nvSpPr>
          <p:cNvPr id="73" name="Appui déploiement"/>
          <p:cNvSpPr/>
          <p:nvPr/>
        </p:nvSpPr>
        <p:spPr>
          <a:xfrm>
            <a:off x="11120437" y="2054985"/>
            <a:ext cx="976312" cy="401172"/>
          </a:xfrm>
          <a:prstGeom prst="roundRect">
            <a:avLst>
              <a:gd name="adj" fmla="val 8000"/>
            </a:avLst>
          </a:prstGeom>
          <a:solidFill>
            <a:srgbClr val="88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Appui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déploiement</a:t>
            </a:r>
          </a:p>
        </p:txBody>
      </p:sp>
      <p:sp>
        <p:nvSpPr>
          <p:cNvPr id="74" name="Hypercare onboarding"/>
          <p:cNvSpPr/>
          <p:nvPr/>
        </p:nvSpPr>
        <p:spPr>
          <a:xfrm>
            <a:off x="2024062" y="2797153"/>
            <a:ext cx="1690687" cy="340996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Hypercare onboarding</a:t>
            </a:r>
          </a:p>
        </p:txBody>
      </p:sp>
      <p:sp>
        <p:nvSpPr>
          <p:cNvPr id="75" name="Assistance récurrente (0,5 jour/semaine)"/>
          <p:cNvSpPr/>
          <p:nvPr/>
        </p:nvSpPr>
        <p:spPr>
          <a:xfrm>
            <a:off x="3762375" y="2797153"/>
            <a:ext cx="8286750" cy="340996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Assistance récurrente (0,5 jour/semaine)</a:t>
            </a:r>
          </a:p>
        </p:txBody>
      </p:sp>
      <p:sp>
        <p:nvSpPr>
          <p:cNvPr id="76" name="Architecture cible et sécurité"/>
          <p:cNvSpPr/>
          <p:nvPr/>
        </p:nvSpPr>
        <p:spPr>
          <a:xfrm>
            <a:off x="2024062" y="3479146"/>
            <a:ext cx="1285875" cy="320937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Architecture cible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et sécurité</a:t>
            </a:r>
          </a:p>
        </p:txBody>
      </p:sp>
      <p:sp>
        <p:nvSpPr>
          <p:cNvPr id="77" name="Environnement AWS"/>
          <p:cNvSpPr/>
          <p:nvPr/>
        </p:nvSpPr>
        <p:spPr>
          <a:xfrm>
            <a:off x="3357562" y="3479146"/>
            <a:ext cx="1524000" cy="300879"/>
          </a:xfrm>
          <a:prstGeom prst="roundRect">
            <a:avLst>
              <a:gd name="adj" fmla="val 8000"/>
            </a:avLst>
          </a:prstGeom>
          <a:solidFill>
            <a:srgbClr val="55A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3567"/>
                </a:solidFill>
                <a:latin typeface="Arial"/>
              </a:defRPr>
            </a:pPr>
            <a:r>
              <a:t>Environnement AWS</a:t>
            </a:r>
          </a:p>
        </p:txBody>
      </p:sp>
      <p:sp>
        <p:nvSpPr>
          <p:cNvPr id="78" name="CI/CD et AIOps"/>
          <p:cNvSpPr/>
          <p:nvPr/>
        </p:nvSpPr>
        <p:spPr>
          <a:xfrm>
            <a:off x="3357562" y="3820142"/>
            <a:ext cx="1785937" cy="280820"/>
          </a:xfrm>
          <a:prstGeom prst="roundRect">
            <a:avLst>
              <a:gd name="adj" fmla="val 8000"/>
            </a:avLst>
          </a:prstGeom>
          <a:solidFill>
            <a:srgbClr val="55A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CI/CD et AIOps</a:t>
            </a:r>
          </a:p>
        </p:txBody>
      </p:sp>
      <p:sp>
        <p:nvSpPr>
          <p:cNvPr id="79" name="Supervision coûts, sécurité et performance"/>
          <p:cNvSpPr/>
          <p:nvPr/>
        </p:nvSpPr>
        <p:spPr>
          <a:xfrm>
            <a:off x="5191125" y="3579439"/>
            <a:ext cx="6858000" cy="361054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Supervision coûts, sécurité et performance</a:t>
            </a:r>
          </a:p>
        </p:txBody>
      </p:sp>
      <p:sp>
        <p:nvSpPr>
          <p:cNvPr id="80" name="Préparation production"/>
          <p:cNvSpPr/>
          <p:nvPr/>
        </p:nvSpPr>
        <p:spPr>
          <a:xfrm>
            <a:off x="9525000" y="3980611"/>
            <a:ext cx="1547812" cy="260761"/>
          </a:xfrm>
          <a:prstGeom prst="roundRect">
            <a:avLst>
              <a:gd name="adj" fmla="val 8000"/>
            </a:avLst>
          </a:prstGeom>
          <a:solidFill>
            <a:srgbClr val="7D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63567"/>
                </a:solidFill>
                <a:latin typeface="Arial"/>
              </a:defRPr>
            </a:pPr>
            <a:r>
              <a:t>Préparation production</a:t>
            </a:r>
          </a:p>
        </p:txBody>
      </p:sp>
      <p:sp>
        <p:nvSpPr>
          <p:cNvPr id="81" name="Déploiement AWS"/>
          <p:cNvSpPr/>
          <p:nvPr/>
        </p:nvSpPr>
        <p:spPr>
          <a:xfrm>
            <a:off x="11120437" y="3900376"/>
            <a:ext cx="928687" cy="340996"/>
          </a:xfrm>
          <a:prstGeom prst="roundRect">
            <a:avLst>
              <a:gd name="adj" fmla="val 8000"/>
            </a:avLst>
          </a:prstGeom>
          <a:solidFill>
            <a:srgbClr val="88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Déploiement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AWS</a:t>
            </a:r>
          </a:p>
        </p:txBody>
      </p:sp>
      <p:sp>
        <p:nvSpPr>
          <p:cNvPr id="82" name="Ateliers et validations"/>
          <p:cNvSpPr/>
          <p:nvPr/>
        </p:nvSpPr>
        <p:spPr>
          <a:xfrm>
            <a:off x="2024062" y="4482076"/>
            <a:ext cx="2238375" cy="381113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Ateliers et validations</a:t>
            </a:r>
          </a:p>
        </p:txBody>
      </p:sp>
      <p:sp>
        <p:nvSpPr>
          <p:cNvPr id="83" name="Démonstrations / recette visuelle (toutes les 1 à 2 semaines)"/>
          <p:cNvSpPr/>
          <p:nvPr/>
        </p:nvSpPr>
        <p:spPr>
          <a:xfrm>
            <a:off x="4333875" y="4502134"/>
            <a:ext cx="5857875" cy="340996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Démonstrations / recette visuelle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(toutes les 1 à 2 semaines)</a:t>
            </a:r>
          </a:p>
        </p:txBody>
      </p:sp>
      <p:sp>
        <p:nvSpPr>
          <p:cNvPr id="84" name="UAT et acceptation"/>
          <p:cNvSpPr/>
          <p:nvPr/>
        </p:nvSpPr>
        <p:spPr>
          <a:xfrm>
            <a:off x="10263187" y="4502134"/>
            <a:ext cx="1785937" cy="340996"/>
          </a:xfrm>
          <a:prstGeom prst="roundRect">
            <a:avLst>
              <a:gd name="adj" fmla="val 8000"/>
            </a:avLst>
          </a:prstGeom>
          <a:solidFill>
            <a:srgbClr val="88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063567"/>
                </a:solidFill>
                <a:latin typeface="Arial"/>
              </a:defRPr>
            </a:pPr>
            <a:r>
              <a:t>UAT et acceptation</a:t>
            </a:r>
          </a:p>
        </p:txBody>
      </p:sp>
      <p:sp>
        <p:nvSpPr>
          <p:cNvPr id="85" name="Préparation jeux de données et disponibilité testeurs"/>
          <p:cNvSpPr/>
          <p:nvPr/>
        </p:nvSpPr>
        <p:spPr>
          <a:xfrm>
            <a:off x="8096250" y="4883248"/>
            <a:ext cx="2095500" cy="320937"/>
          </a:xfrm>
          <a:prstGeom prst="roundRect">
            <a:avLst>
              <a:gd name="adj" fmla="val 8000"/>
            </a:avLst>
          </a:prstGeom>
          <a:solidFill>
            <a:srgbClr val="7D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0" rIns="2286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3567"/>
                </a:solidFill>
                <a:latin typeface="Arial"/>
              </a:defRPr>
            </a:pPr>
            <a:r>
              <a:t>Préparation jeux de données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3567"/>
                </a:solidFill>
                <a:latin typeface="Arial"/>
              </a:defRPr>
            </a:pPr>
            <a:r>
              <a:t>et disponibilité testeurs</a:t>
            </a:r>
          </a:p>
        </p:txBody>
      </p:sp>
      <p:sp>
        <p:nvSpPr>
          <p:cNvPr id="86" name="Jalon M1"/>
          <p:cNvSpPr/>
          <p:nvPr/>
        </p:nvSpPr>
        <p:spPr>
          <a:xfrm>
            <a:off x="3333750" y="5344595"/>
            <a:ext cx="238125" cy="200586"/>
          </a:xfrm>
          <a:prstGeom prst="diamond">
            <a:avLst/>
          </a:prstGeom>
          <a:solidFill>
            <a:srgbClr val="071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1"/>
          <p:cNvSpPr txBox="1"/>
          <p:nvPr/>
        </p:nvSpPr>
        <p:spPr>
          <a:xfrm>
            <a:off x="3214687" y="5585299"/>
            <a:ext cx="476250" cy="18052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1F5D"/>
                </a:solidFill>
                <a:latin typeface="Arial"/>
              </a:defRPr>
            </a:pPr>
            <a:r>
              <a:t>M1</a:t>
            </a:r>
          </a:p>
        </p:txBody>
      </p:sp>
      <p:sp>
        <p:nvSpPr>
          <p:cNvPr id="88" name="Équipe et environnement prêts (fin S2)"/>
          <p:cNvSpPr txBox="1"/>
          <p:nvPr/>
        </p:nvSpPr>
        <p:spPr>
          <a:xfrm>
            <a:off x="2833687" y="5805943"/>
            <a:ext cx="1238250" cy="300879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Équipe et environnement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prêts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(fin S2)</a:t>
            </a:r>
          </a:p>
        </p:txBody>
      </p:sp>
      <p:sp>
        <p:nvSpPr>
          <p:cNvPr id="89" name="Jalon M2"/>
          <p:cNvSpPr/>
          <p:nvPr/>
        </p:nvSpPr>
        <p:spPr>
          <a:xfrm>
            <a:off x="4381500" y="5344595"/>
            <a:ext cx="238125" cy="200586"/>
          </a:xfrm>
          <a:prstGeom prst="diamond">
            <a:avLst/>
          </a:prstGeom>
          <a:solidFill>
            <a:srgbClr val="071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M2"/>
          <p:cNvSpPr txBox="1"/>
          <p:nvPr/>
        </p:nvSpPr>
        <p:spPr>
          <a:xfrm>
            <a:off x="4262437" y="5585299"/>
            <a:ext cx="476250" cy="18052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1F5D"/>
                </a:solidFill>
                <a:latin typeface="Arial"/>
              </a:defRPr>
            </a:pPr>
            <a:r>
              <a:t>M2</a:t>
            </a:r>
          </a:p>
        </p:txBody>
      </p:sp>
      <p:sp>
        <p:nvSpPr>
          <p:cNvPr id="91" name="Backlog / UI / règles validés (fin S3)"/>
          <p:cNvSpPr txBox="1"/>
          <p:nvPr/>
        </p:nvSpPr>
        <p:spPr>
          <a:xfrm>
            <a:off x="3881437" y="5805943"/>
            <a:ext cx="1238250" cy="300879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Backlog / UI / règles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validés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(fin S3)</a:t>
            </a:r>
          </a:p>
        </p:txBody>
      </p:sp>
      <p:sp>
        <p:nvSpPr>
          <p:cNvPr id="94" name="MVP démontrable (fin S6)"/>
          <p:cNvSpPr txBox="1"/>
          <p:nvPr/>
        </p:nvSpPr>
        <p:spPr>
          <a:xfrm>
            <a:off x="9525000" y="5766145"/>
            <a:ext cx="1238250" cy="240066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Lot</a:t>
            </a:r>
            <a:r>
              <a:rPr dirty="0"/>
              <a:t> </a:t>
            </a:r>
            <a:r>
              <a:rPr dirty="0" err="1"/>
              <a:t>démontrable</a:t>
            </a:r>
            <a:endParaRPr dirty="0"/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rPr dirty="0"/>
              <a:t>(fin S</a:t>
            </a:r>
            <a:r>
              <a:rPr lang="fr-FR" dirty="0"/>
              <a:t>10</a:t>
            </a:r>
            <a:r>
              <a:rPr dirty="0"/>
              <a:t>)</a:t>
            </a:r>
          </a:p>
        </p:txBody>
      </p:sp>
      <p:sp>
        <p:nvSpPr>
          <p:cNvPr id="95" name="Jalon M4"/>
          <p:cNvSpPr/>
          <p:nvPr/>
        </p:nvSpPr>
        <p:spPr>
          <a:xfrm>
            <a:off x="10048875" y="5344595"/>
            <a:ext cx="238125" cy="200586"/>
          </a:xfrm>
          <a:prstGeom prst="diamond">
            <a:avLst/>
          </a:prstGeom>
          <a:solidFill>
            <a:srgbClr val="071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M4"/>
          <p:cNvSpPr txBox="1"/>
          <p:nvPr/>
        </p:nvSpPr>
        <p:spPr>
          <a:xfrm>
            <a:off x="9929812" y="5590924"/>
            <a:ext cx="476250" cy="1692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1F5D"/>
                </a:solidFill>
                <a:latin typeface="Arial"/>
              </a:defRPr>
            </a:pPr>
            <a:r>
              <a:rPr dirty="0"/>
              <a:t>M</a:t>
            </a:r>
            <a:r>
              <a:rPr lang="fr-FR" dirty="0"/>
              <a:t>3</a:t>
            </a:r>
            <a:endParaRPr dirty="0"/>
          </a:p>
        </p:txBody>
      </p:sp>
      <p:sp>
        <p:nvSpPr>
          <p:cNvPr id="98" name="Jalon M5"/>
          <p:cNvSpPr/>
          <p:nvPr/>
        </p:nvSpPr>
        <p:spPr>
          <a:xfrm>
            <a:off x="11572875" y="5344595"/>
            <a:ext cx="238125" cy="200586"/>
          </a:xfrm>
          <a:prstGeom prst="diamond">
            <a:avLst/>
          </a:prstGeom>
          <a:solidFill>
            <a:srgbClr val="071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5"/>
          <p:cNvSpPr txBox="1"/>
          <p:nvPr/>
        </p:nvSpPr>
        <p:spPr>
          <a:xfrm>
            <a:off x="11453812" y="5590924"/>
            <a:ext cx="476250" cy="1692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1F5D"/>
                </a:solidFill>
                <a:latin typeface="Arial"/>
              </a:defRPr>
            </a:pPr>
            <a:r>
              <a:rPr dirty="0"/>
              <a:t>M</a:t>
            </a:r>
            <a:r>
              <a:rPr lang="fr-FR" dirty="0"/>
              <a:t>4</a:t>
            </a:r>
            <a:endParaRPr dirty="0"/>
          </a:p>
        </p:txBody>
      </p:sp>
      <p:sp>
        <p:nvSpPr>
          <p:cNvPr id="100" name="Mise en production et acceptation (fin S12)"/>
          <p:cNvSpPr txBox="1"/>
          <p:nvPr/>
        </p:nvSpPr>
        <p:spPr>
          <a:xfrm>
            <a:off x="11072812" y="5805943"/>
            <a:ext cx="1238250" cy="300879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Mise en production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et acceptation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071F5D"/>
                </a:solidFill>
                <a:latin typeface="Arial"/>
              </a:defRPr>
            </a:pPr>
            <a:r>
              <a:t>(fin S12)</a:t>
            </a:r>
          </a:p>
        </p:txBody>
      </p:sp>
      <p:sp>
        <p:nvSpPr>
          <p:cNvPr id="101" name="Légende des phases :"/>
          <p:cNvSpPr txBox="1"/>
          <p:nvPr/>
        </p:nvSpPr>
        <p:spPr>
          <a:xfrm>
            <a:off x="166687" y="6347525"/>
            <a:ext cx="1547812" cy="280820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71F5D"/>
                </a:solidFill>
                <a:latin typeface="Arial"/>
              </a:defRPr>
            </a:pPr>
            <a:r>
              <a:t>Légende des phases :</a:t>
            </a:r>
          </a:p>
        </p:txBody>
      </p:sp>
      <p:sp>
        <p:nvSpPr>
          <p:cNvPr id="102" name="Cadrage"/>
          <p:cNvSpPr/>
          <p:nvPr/>
        </p:nvSpPr>
        <p:spPr>
          <a:xfrm>
            <a:off x="1738312" y="6347525"/>
            <a:ext cx="452437" cy="200586"/>
          </a:xfrm>
          <a:prstGeom prst="roundRect">
            <a:avLst>
              <a:gd name="adj" fmla="val 8000"/>
            </a:avLst>
          </a:prstGeom>
          <a:solidFill>
            <a:srgbClr val="B1D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adrage"/>
          <p:cNvSpPr txBox="1"/>
          <p:nvPr/>
        </p:nvSpPr>
        <p:spPr>
          <a:xfrm>
            <a:off x="2262187" y="6370874"/>
            <a:ext cx="1666875" cy="153888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dirty="0" err="1"/>
              <a:t>Cadrage</a:t>
            </a:r>
            <a:r>
              <a:rPr lang="fr-FR" dirty="0"/>
              <a:t> / </a:t>
            </a:r>
            <a:r>
              <a:rPr lang="fr-FR" dirty="0" err="1"/>
              <a:t>Onboarding</a:t>
            </a:r>
            <a:endParaRPr dirty="0"/>
          </a:p>
        </p:txBody>
      </p:sp>
      <p:sp>
        <p:nvSpPr>
          <p:cNvPr id="104" name="Comprendre et préparer"/>
          <p:cNvSpPr txBox="1"/>
          <p:nvPr/>
        </p:nvSpPr>
        <p:spPr>
          <a:xfrm>
            <a:off x="2262187" y="6591465"/>
            <a:ext cx="1762125" cy="1138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>
                <a:solidFill>
                  <a:srgbClr val="7485A3"/>
                </a:solidFill>
                <a:latin typeface="Arial"/>
              </a:defRPr>
            </a:pPr>
            <a:r>
              <a:rPr dirty="0" err="1"/>
              <a:t>Comprendre</a:t>
            </a:r>
            <a:r>
              <a:rPr dirty="0"/>
              <a:t> et </a:t>
            </a:r>
            <a:r>
              <a:rPr lang="fr-FR" dirty="0"/>
              <a:t>up-</a:t>
            </a:r>
            <a:r>
              <a:rPr lang="fr-FR" dirty="0" err="1"/>
              <a:t>skiller</a:t>
            </a:r>
            <a:endParaRPr dirty="0"/>
          </a:p>
        </p:txBody>
      </p:sp>
      <p:sp>
        <p:nvSpPr>
          <p:cNvPr id="105" name="Build"/>
          <p:cNvSpPr/>
          <p:nvPr/>
        </p:nvSpPr>
        <p:spPr>
          <a:xfrm>
            <a:off x="3667125" y="6347525"/>
            <a:ext cx="452437" cy="200586"/>
          </a:xfrm>
          <a:prstGeom prst="roundRect">
            <a:avLst>
              <a:gd name="adj" fmla="val 8000"/>
            </a:avLst>
          </a:prstGeom>
          <a:solidFill>
            <a:srgbClr val="55A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uild"/>
          <p:cNvSpPr txBox="1"/>
          <p:nvPr/>
        </p:nvSpPr>
        <p:spPr>
          <a:xfrm>
            <a:off x="4191000" y="6370874"/>
            <a:ext cx="1666875" cy="153888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lang="fr-FR" dirty="0"/>
              <a:t>Préparation</a:t>
            </a:r>
            <a:endParaRPr dirty="0"/>
          </a:p>
        </p:txBody>
      </p:sp>
      <p:sp>
        <p:nvSpPr>
          <p:cNvPr id="107" name="Configurer et développer"/>
          <p:cNvSpPr txBox="1"/>
          <p:nvPr/>
        </p:nvSpPr>
        <p:spPr>
          <a:xfrm>
            <a:off x="4191000" y="6591465"/>
            <a:ext cx="1762125" cy="1138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>
                <a:solidFill>
                  <a:srgbClr val="7485A3"/>
                </a:solidFill>
                <a:latin typeface="Arial"/>
              </a:defRPr>
            </a:pPr>
            <a:r>
              <a:rPr dirty="0" err="1"/>
              <a:t>Configurer</a:t>
            </a:r>
            <a:endParaRPr dirty="0"/>
          </a:p>
        </p:txBody>
      </p:sp>
      <p:sp>
        <p:nvSpPr>
          <p:cNvPr id="108" name="Validation"/>
          <p:cNvSpPr/>
          <p:nvPr/>
        </p:nvSpPr>
        <p:spPr>
          <a:xfrm>
            <a:off x="5619750" y="6347525"/>
            <a:ext cx="452437" cy="200586"/>
          </a:xfrm>
          <a:prstGeom prst="roundRect">
            <a:avLst>
              <a:gd name="adj" fmla="val 8000"/>
            </a:avLst>
          </a:prstGeom>
          <a:solidFill>
            <a:srgbClr val="26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Validation"/>
          <p:cNvSpPr txBox="1"/>
          <p:nvPr/>
        </p:nvSpPr>
        <p:spPr>
          <a:xfrm>
            <a:off x="6143625" y="6370874"/>
            <a:ext cx="1666875" cy="153888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lang="fr-FR" dirty="0" err="1"/>
              <a:t>Build</a:t>
            </a:r>
            <a:r>
              <a:rPr lang="fr-FR" dirty="0"/>
              <a:t> / </a:t>
            </a:r>
            <a:r>
              <a:rPr dirty="0"/>
              <a:t>Validation</a:t>
            </a:r>
          </a:p>
        </p:txBody>
      </p:sp>
      <p:sp>
        <p:nvSpPr>
          <p:cNvPr id="110" name="Tester et valider"/>
          <p:cNvSpPr txBox="1"/>
          <p:nvPr/>
        </p:nvSpPr>
        <p:spPr>
          <a:xfrm>
            <a:off x="6143625" y="6591465"/>
            <a:ext cx="1762125" cy="113877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>
                <a:solidFill>
                  <a:srgbClr val="7485A3"/>
                </a:solidFill>
                <a:latin typeface="Arial"/>
              </a:defRPr>
            </a:pPr>
            <a:r>
              <a:rPr lang="fr-FR" dirty="0"/>
              <a:t>Développer, </a:t>
            </a:r>
            <a:r>
              <a:rPr lang="fr-FR" dirty="0" err="1"/>
              <a:t>t</a:t>
            </a:r>
            <a:r>
              <a:rPr dirty="0"/>
              <a:t>ester et valider</a:t>
            </a:r>
          </a:p>
        </p:txBody>
      </p:sp>
      <p:sp>
        <p:nvSpPr>
          <p:cNvPr id="111" name="Déploiement"/>
          <p:cNvSpPr/>
          <p:nvPr/>
        </p:nvSpPr>
        <p:spPr>
          <a:xfrm>
            <a:off x="7572375" y="6347525"/>
            <a:ext cx="452437" cy="200586"/>
          </a:xfrm>
          <a:prstGeom prst="roundRect">
            <a:avLst>
              <a:gd name="adj" fmla="val 8000"/>
            </a:avLst>
          </a:prstGeom>
          <a:solidFill>
            <a:srgbClr val="88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Déploiement"/>
          <p:cNvSpPr txBox="1"/>
          <p:nvPr/>
        </p:nvSpPr>
        <p:spPr>
          <a:xfrm>
            <a:off x="8096250" y="6370874"/>
            <a:ext cx="1666875" cy="153888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71F5D"/>
                </a:solidFill>
                <a:latin typeface="Arial"/>
              </a:defRPr>
            </a:pPr>
            <a:r>
              <a:rPr dirty="0" err="1"/>
              <a:t>Déploiement</a:t>
            </a:r>
            <a:r>
              <a:rPr lang="fr-FR" dirty="0"/>
              <a:t> / validation</a:t>
            </a:r>
            <a:endParaRPr dirty="0"/>
          </a:p>
        </p:txBody>
      </p:sp>
      <p:sp>
        <p:nvSpPr>
          <p:cNvPr id="113" name="Mettre en production"/>
          <p:cNvSpPr txBox="1"/>
          <p:nvPr/>
        </p:nvSpPr>
        <p:spPr>
          <a:xfrm>
            <a:off x="8096250" y="6568170"/>
            <a:ext cx="1762125" cy="160468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>
                <a:solidFill>
                  <a:srgbClr val="7485A3"/>
                </a:solidFill>
                <a:latin typeface="Arial"/>
              </a:defRPr>
            </a:pPr>
            <a:r>
              <a:t>Mettre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1939112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35F7-B55B-2697-C08B-1C486C16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nning de réalisation – Projet Factory IA (12 semaines)">
            <a:extLst>
              <a:ext uri="{FF2B5EF4-FFF2-40B4-BE49-F238E27FC236}">
                <a16:creationId xmlns:a16="http://schemas.microsoft.com/office/drawing/2014/main" id="{85F0B2CF-7903-B90F-F329-194D32A43887}"/>
              </a:ext>
            </a:extLst>
          </p:cNvPr>
          <p:cNvSpPr txBox="1"/>
          <p:nvPr/>
        </p:nvSpPr>
        <p:spPr>
          <a:xfrm>
            <a:off x="142875" y="112856"/>
            <a:ext cx="11882438" cy="35394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71F5D"/>
                </a:solidFill>
                <a:latin typeface="Arial"/>
              </a:defRPr>
            </a:pPr>
            <a:r>
              <a:rPr lang="fr-FR" dirty="0"/>
              <a:t>Le Périmètre du 1</a:t>
            </a:r>
            <a:r>
              <a:rPr lang="fr-FR" baseline="30000" dirty="0"/>
              <a:t>er</a:t>
            </a:r>
            <a:r>
              <a:rPr lang="fr-FR" dirty="0"/>
              <a:t> LOT</a:t>
            </a:r>
            <a:endParaRPr dirty="0"/>
          </a:p>
        </p:txBody>
      </p:sp>
      <p:pic>
        <p:nvPicPr>
          <p:cNvPr id="2" name="Image 1" descr="Environnement système cible de Graffard Racing">
            <a:extLst>
              <a:ext uri="{FF2B5EF4-FFF2-40B4-BE49-F238E27FC236}">
                <a16:creationId xmlns:a16="http://schemas.microsoft.com/office/drawing/2014/main" id="{396196D4-D7F2-9E31-C793-C411A8222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829" y="466799"/>
            <a:ext cx="9491730" cy="63291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ADD8D91-1BDC-2C22-1E90-0E66F5CD6E25}"/>
              </a:ext>
            </a:extLst>
          </p:cNvPr>
          <p:cNvSpPr/>
          <p:nvPr/>
        </p:nvSpPr>
        <p:spPr>
          <a:xfrm>
            <a:off x="142875" y="5982395"/>
            <a:ext cx="893253" cy="353943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70C0"/>
                </a:solidFill>
              </a:rPr>
              <a:t>1</a:t>
            </a:r>
            <a:r>
              <a:rPr lang="fr-FR" sz="1400" baseline="30000" dirty="0">
                <a:solidFill>
                  <a:srgbClr val="0070C0"/>
                </a:solidFill>
              </a:rPr>
              <a:t>er</a:t>
            </a:r>
            <a:r>
              <a:rPr lang="fr-FR" sz="1400" dirty="0">
                <a:solidFill>
                  <a:srgbClr val="0070C0"/>
                </a:solidFill>
              </a:rPr>
              <a:t> LOT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ABB5CCF-4DB0-7575-E4C4-7DDEC8B59501}"/>
              </a:ext>
            </a:extLst>
          </p:cNvPr>
          <p:cNvSpPr/>
          <p:nvPr/>
        </p:nvSpPr>
        <p:spPr>
          <a:xfrm>
            <a:off x="142875" y="6441980"/>
            <a:ext cx="893253" cy="3539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7030A0"/>
                </a:solidFill>
              </a:rPr>
              <a:t>2</a:t>
            </a:r>
            <a:r>
              <a:rPr lang="fr-FR" sz="1400" baseline="30000" dirty="0">
                <a:solidFill>
                  <a:srgbClr val="7030A0"/>
                </a:solidFill>
              </a:rPr>
              <a:t>ème</a:t>
            </a:r>
            <a:r>
              <a:rPr lang="fr-FR" sz="1400" dirty="0">
                <a:solidFill>
                  <a:srgbClr val="7030A0"/>
                </a:solidFill>
              </a:rPr>
              <a:t> LOT</a:t>
            </a:r>
          </a:p>
        </p:txBody>
      </p:sp>
    </p:spTree>
    <p:extLst>
      <p:ext uri="{BB962C8B-B14F-4D97-AF65-F5344CB8AC3E}">
        <p14:creationId xmlns:p14="http://schemas.microsoft.com/office/powerpoint/2010/main" val="1780358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560C6-29C0-C60F-C429-FF78CDB1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EEA0B2E4-F19F-6BB9-F05A-62545537B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01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284B-0253-62FB-BA43-D9CF58BB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nning de réalisation – Projet Factory IA (12 semaines)">
            <a:extLst>
              <a:ext uri="{FF2B5EF4-FFF2-40B4-BE49-F238E27FC236}">
                <a16:creationId xmlns:a16="http://schemas.microsoft.com/office/drawing/2014/main" id="{505FFA52-F9F1-B523-3A68-B28E9D61E60F}"/>
              </a:ext>
            </a:extLst>
          </p:cNvPr>
          <p:cNvSpPr txBox="1"/>
          <p:nvPr/>
        </p:nvSpPr>
        <p:spPr>
          <a:xfrm>
            <a:off x="142875" y="112856"/>
            <a:ext cx="11882438" cy="353943"/>
          </a:xfrm>
          <a:prstGeom prst="rect">
            <a:avLst/>
          </a:prstGeom>
          <a:noFill/>
        </p:spPr>
        <p:txBody>
          <a:bodyPr wrap="square" lIns="22860" tIns="0" rIns="2286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71F5D"/>
                </a:solidFill>
                <a:latin typeface="Arial"/>
              </a:defRPr>
            </a:pPr>
            <a:r>
              <a:rPr lang="fr-FR" dirty="0"/>
              <a:t>L’environnement Cible AWS (pour information – Draft à revoir)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DBF8460-0DB2-1AF5-B5EA-282F5F9A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51" y="480203"/>
            <a:ext cx="9566697" cy="637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797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f3cd2ba-39fc-428b-a333-80f7eb18b18d}" enabled="1" method="Standard" siteId="{e8b88f3d-222b-4ce5-b9d1-46b0ff9466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7638</Words>
  <Application>Microsoft Macintosh PowerPoint</Application>
  <PresentationFormat>Grand écran</PresentationFormat>
  <Paragraphs>2216</Paragraphs>
  <Slides>41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Uy KHOU</dc:creator>
  <cp:lastModifiedBy>Uy KHOU</cp:lastModifiedBy>
  <cp:revision>7</cp:revision>
  <dcterms:created xsi:type="dcterms:W3CDTF">2026-10-05T11:45:48Z</dcterms:created>
  <dcterms:modified xsi:type="dcterms:W3CDTF">2026-10-22T12:09:46Z</dcterms:modified>
</cp:coreProperties>
</file>